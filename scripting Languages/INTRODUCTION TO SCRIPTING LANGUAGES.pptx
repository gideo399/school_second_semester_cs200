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91" r:id="rId5"/>
    <p:sldId id="260" r:id="rId6"/>
    <p:sldId id="259" r:id="rId7"/>
    <p:sldId id="262" r:id="rId8"/>
    <p:sldId id="261"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86" r:id="rId23"/>
    <p:sldId id="277" r:id="rId24"/>
    <p:sldId id="278" r:id="rId25"/>
    <p:sldId id="279" r:id="rId26"/>
    <p:sldId id="280" r:id="rId27"/>
    <p:sldId id="281" r:id="rId28"/>
    <p:sldId id="282" r:id="rId29"/>
    <p:sldId id="287" r:id="rId30"/>
    <p:sldId id="283" r:id="rId31"/>
    <p:sldId id="288" r:id="rId32"/>
    <p:sldId id="284" r:id="rId33"/>
    <p:sldId id="285" r:id="rId34"/>
    <p:sldId id="295" r:id="rId35"/>
    <p:sldId id="290" r:id="rId36"/>
    <p:sldId id="28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613811-707D-4D0B-9DB6-F2645014D863}" v="2" dt="2026-05-19T08:58:39.95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gustus Buckman" userId="3065402d2fb6dea6" providerId="LiveId" clId="{334D3165-B3EE-41D0-BBD8-DF61D119071D}"/>
    <pc:docChg chg="custSel addSld modSld sldOrd">
      <pc:chgData name="Augustus Buckman" userId="3065402d2fb6dea6" providerId="LiveId" clId="{334D3165-B3EE-41D0-BBD8-DF61D119071D}" dt="2026-05-19T09:00:55.861" v="10" actId="729"/>
      <pc:docMkLst>
        <pc:docMk/>
      </pc:docMkLst>
      <pc:sldChg chg="modSp mod modClrScheme chgLayout">
        <pc:chgData name="Augustus Buckman" userId="3065402d2fb6dea6" providerId="LiveId" clId="{334D3165-B3EE-41D0-BBD8-DF61D119071D}" dt="2026-05-18T21:37:34.692" v="0" actId="26606"/>
        <pc:sldMkLst>
          <pc:docMk/>
          <pc:sldMk cId="0" sldId="256"/>
        </pc:sldMkLst>
        <pc:spChg chg="mod">
          <ac:chgData name="Augustus Buckman" userId="3065402d2fb6dea6" providerId="LiveId" clId="{334D3165-B3EE-41D0-BBD8-DF61D119071D}" dt="2026-05-18T21:37:34.692" v="0" actId="26606"/>
          <ac:spMkLst>
            <pc:docMk/>
            <pc:sldMk cId="0" sldId="256"/>
            <ac:spMk id="2" creationId="{00000000-0000-0000-0000-000000000000}"/>
          </ac:spMkLst>
        </pc:spChg>
        <pc:spChg chg="mod">
          <ac:chgData name="Augustus Buckman" userId="3065402d2fb6dea6" providerId="LiveId" clId="{334D3165-B3EE-41D0-BBD8-DF61D119071D}" dt="2026-05-18T21:37:34.692" v="0" actId="26606"/>
          <ac:spMkLst>
            <pc:docMk/>
            <pc:sldMk cId="0" sldId="256"/>
            <ac:spMk id="3" creationId="{BAF4DC56-E446-4AB1-B112-034689299A2A}"/>
          </ac:spMkLst>
        </pc:spChg>
      </pc:sldChg>
      <pc:sldChg chg="mod modShow">
        <pc:chgData name="Augustus Buckman" userId="3065402d2fb6dea6" providerId="LiveId" clId="{334D3165-B3EE-41D0-BBD8-DF61D119071D}" dt="2026-05-19T08:59:17.856" v="9" actId="729"/>
        <pc:sldMkLst>
          <pc:docMk/>
          <pc:sldMk cId="0" sldId="263"/>
        </pc:sldMkLst>
      </pc:sldChg>
      <pc:sldChg chg="mod modShow">
        <pc:chgData name="Augustus Buckman" userId="3065402d2fb6dea6" providerId="LiveId" clId="{334D3165-B3EE-41D0-BBD8-DF61D119071D}" dt="2026-05-19T09:00:55.861" v="10" actId="729"/>
        <pc:sldMkLst>
          <pc:docMk/>
          <pc:sldMk cId="0" sldId="288"/>
        </pc:sldMkLst>
      </pc:sldChg>
      <pc:sldChg chg="add">
        <pc:chgData name="Augustus Buckman" userId="3065402d2fb6dea6" providerId="LiveId" clId="{334D3165-B3EE-41D0-BBD8-DF61D119071D}" dt="2026-05-19T08:58:39.944" v="4"/>
        <pc:sldMkLst>
          <pc:docMk/>
          <pc:sldMk cId="0" sldId="289"/>
        </pc:sldMkLst>
      </pc:sldChg>
      <pc:sldChg chg="add">
        <pc:chgData name="Augustus Buckman" userId="3065402d2fb6dea6" providerId="LiveId" clId="{334D3165-B3EE-41D0-BBD8-DF61D119071D}" dt="2026-05-19T08:58:39.944" v="4"/>
        <pc:sldMkLst>
          <pc:docMk/>
          <pc:sldMk cId="0" sldId="290"/>
        </pc:sldMkLst>
      </pc:sldChg>
      <pc:sldChg chg="add ord">
        <pc:chgData name="Augustus Buckman" userId="3065402d2fb6dea6" providerId="LiveId" clId="{334D3165-B3EE-41D0-BBD8-DF61D119071D}" dt="2026-05-19T08:58:14.084" v="3"/>
        <pc:sldMkLst>
          <pc:docMk/>
          <pc:sldMk cId="0" sldId="291"/>
        </pc:sldMkLst>
      </pc:sldChg>
      <pc:sldChg chg="modSp add mod">
        <pc:chgData name="Augustus Buckman" userId="3065402d2fb6dea6" providerId="LiveId" clId="{334D3165-B3EE-41D0-BBD8-DF61D119071D}" dt="2026-05-19T08:58:48.055" v="8" actId="20577"/>
        <pc:sldMkLst>
          <pc:docMk/>
          <pc:sldMk cId="0" sldId="295"/>
        </pc:sldMkLst>
        <pc:spChg chg="mod">
          <ac:chgData name="Augustus Buckman" userId="3065402d2fb6dea6" providerId="LiveId" clId="{334D3165-B3EE-41D0-BBD8-DF61D119071D}" dt="2026-05-19T08:58:48.055" v="8" actId="20577"/>
          <ac:spMkLst>
            <pc:docMk/>
            <pc:sldMk cId="0" sldId="29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5/18/2026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5/18/2026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nchorCtr="0">
            <a:normAutofit/>
          </a:bodyPr>
          <a:lstStyle/>
          <a:p>
            <a:pPr>
              <a:lnSpc>
                <a:spcPct val="90000"/>
              </a:lnSpc>
            </a:pPr>
            <a:r>
              <a:rPr lang="en-US" sz="4700" kern="1200" dirty="0">
                <a:latin typeface="+mj-lt"/>
                <a:ea typeface="+mj-ea"/>
                <a:cs typeface="+mj-cs"/>
              </a:rPr>
              <a:t>CSSD 204: Scripting Languages</a:t>
            </a:r>
            <a:br>
              <a:rPr lang="en-US" sz="4700" kern="1200" dirty="0">
                <a:latin typeface="+mj-lt"/>
                <a:ea typeface="+mj-ea"/>
                <a:cs typeface="+mj-cs"/>
              </a:rPr>
            </a:br>
            <a:br>
              <a:rPr lang="en-US" sz="4700" kern="1200" dirty="0">
                <a:latin typeface="+mj-lt"/>
                <a:ea typeface="+mj-ea"/>
                <a:cs typeface="+mj-cs"/>
              </a:rPr>
            </a:br>
            <a:r>
              <a:rPr lang="en-US" sz="4700" kern="1200" dirty="0">
                <a:latin typeface="+mj-lt"/>
                <a:ea typeface="+mj-ea"/>
                <a:cs typeface="+mj-cs"/>
              </a:rPr>
              <a:t>INTRODUCTION TO SCRIPTING LANGUAGES</a:t>
            </a:r>
          </a:p>
        </p:txBody>
      </p:sp>
      <p:sp>
        <p:nvSpPr>
          <p:cNvPr id="3" name="TextBox 2">
            <a:extLst>
              <a:ext uri="{FF2B5EF4-FFF2-40B4-BE49-F238E27FC236}">
                <a16:creationId xmlns:a16="http://schemas.microsoft.com/office/drawing/2014/main" id="{BAF4DC56-E446-4AB1-B112-034689299A2A}"/>
              </a:ext>
            </a:extLst>
          </p:cNvPr>
          <p:cNvSpPr txBox="1"/>
          <p:nvPr/>
        </p:nvSpPr>
        <p:spPr>
          <a:xfrm>
            <a:off x="831851" y="4589463"/>
            <a:ext cx="10515600" cy="1500187"/>
          </a:xfrm>
          <a:prstGeom prst="rect">
            <a:avLst/>
          </a:prstGeom>
          <a:noFill/>
          <a:ln w="9525">
            <a:noFill/>
          </a:ln>
        </p:spPr>
        <p:txBody>
          <a:bodyPr rtlCol="0">
            <a:normAutofit/>
          </a:bodyPr>
          <a:lstStyle/>
          <a:p>
            <a:pPr fontAlgn="base">
              <a:spcBef>
                <a:spcPct val="20000"/>
              </a:spcBef>
              <a:spcAft>
                <a:spcPct val="0"/>
              </a:spcAft>
            </a:pPr>
            <a:r>
              <a:rPr lang="en-US" sz="2400" kern="1200">
                <a:latin typeface="+mn-lt"/>
                <a:ea typeface="+mn-ea"/>
                <a:cs typeface="+mn-cs"/>
              </a:rPr>
              <a:t>By Augustus Buckman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History of Languages</a:t>
            </a:r>
          </a:p>
        </p:txBody>
      </p:sp>
      <p:pic>
        <p:nvPicPr>
          <p:cNvPr id="4" name="Content Placeholder 3"/>
          <p:cNvPicPr>
            <a:picLocks noGrp="1" noChangeAspect="1"/>
          </p:cNvPicPr>
          <p:nvPr>
            <p:ph idx="1"/>
          </p:nvPr>
        </p:nvPicPr>
        <p:blipFill>
          <a:blip r:embed="rId2"/>
          <a:stretch>
            <a:fillRect/>
          </a:stretch>
        </p:blipFill>
        <p:spPr>
          <a:xfrm>
            <a:off x="928370" y="814070"/>
            <a:ext cx="8992870" cy="60439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Introduction</a:t>
            </a:r>
          </a:p>
        </p:txBody>
      </p:sp>
      <p:sp>
        <p:nvSpPr>
          <p:cNvPr id="3" name="Content Placeholder 2"/>
          <p:cNvSpPr>
            <a:spLocks noGrp="1"/>
          </p:cNvSpPr>
          <p:nvPr>
            <p:ph idx="1"/>
          </p:nvPr>
        </p:nvSpPr>
        <p:spPr/>
        <p:txBody>
          <a:bodyPr/>
          <a:lstStyle/>
          <a:p>
            <a:r>
              <a:rPr lang="en-US" sz="2400"/>
              <a:t>Scripting languages and system programming languages are complimentary</a:t>
            </a:r>
          </a:p>
          <a:p>
            <a:pPr marL="0" indent="0">
              <a:buNone/>
            </a:pPr>
            <a:endParaRPr lang="en-US" sz="2400"/>
          </a:p>
          <a:p>
            <a:r>
              <a:rPr lang="en-US" sz="2400"/>
              <a:t>Most major computer platforms since the 1960s include both kind of languages</a:t>
            </a:r>
          </a:p>
          <a:p>
            <a:pPr marL="0" indent="0">
              <a:buNone/>
            </a:pPr>
            <a:endParaRPr lang="en-US" sz="2400"/>
          </a:p>
          <a:p>
            <a:r>
              <a:rPr lang="en-US" sz="2400"/>
              <a:t>Several recent trends, such as faster machines, graphical user interfaces (GUI) and the growth of the internet, have greatly expanded the applicability of scripting languages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Why Should You Care?</a:t>
            </a:r>
          </a:p>
        </p:txBody>
      </p:sp>
      <p:sp>
        <p:nvSpPr>
          <p:cNvPr id="3" name="Content Placeholder 2"/>
          <p:cNvSpPr>
            <a:spLocks noGrp="1"/>
          </p:cNvSpPr>
          <p:nvPr>
            <p:ph idx="1"/>
          </p:nvPr>
        </p:nvSpPr>
        <p:spPr/>
        <p:txBody>
          <a:bodyPr>
            <a:normAutofit fontScale="97500" lnSpcReduction="10000"/>
          </a:bodyPr>
          <a:lstStyle/>
          <a:p>
            <a:r>
              <a:rPr lang="en-US"/>
              <a:t>Python is the #1 language for data science, AI, and automation — all scripting</a:t>
            </a:r>
          </a:p>
          <a:p>
            <a:r>
              <a:rPr lang="en-US"/>
              <a:t>JavaScript powers every modern website and most mobile apps</a:t>
            </a:r>
          </a:p>
          <a:p>
            <a:r>
              <a:rPr lang="en-US"/>
              <a:t>Bash and PowerShell scripts save system admins hours of manual work every day</a:t>
            </a:r>
          </a:p>
          <a:p>
            <a:r>
              <a:rPr lang="en-US"/>
              <a:t>DevOps, cloud infrastructure, and CI/CD pipelines all run on scripting languages</a:t>
            </a:r>
          </a:p>
          <a:p>
            <a:r>
              <a:rPr lang="en-US"/>
              <a:t>Understanding scripting vs. system languages helps you pick the right tool for the job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spc="-10" dirty="0">
                <a:sym typeface="+mn-ea"/>
              </a:rPr>
              <a:t>What</a:t>
            </a:r>
            <a:r>
              <a:rPr b="1" spc="50" dirty="0">
                <a:sym typeface="+mn-ea"/>
              </a:rPr>
              <a:t> </a:t>
            </a:r>
            <a:r>
              <a:rPr b="1" dirty="0">
                <a:sym typeface="+mn-ea"/>
              </a:rPr>
              <a:t>is</a:t>
            </a:r>
            <a:r>
              <a:rPr b="1" spc="-130" dirty="0">
                <a:sym typeface="+mn-ea"/>
              </a:rPr>
              <a:t> </a:t>
            </a:r>
            <a:r>
              <a:rPr lang="en-US" b="1" spc="-130" dirty="0">
                <a:sym typeface="+mn-ea"/>
              </a:rPr>
              <a:t>S</a:t>
            </a:r>
            <a:r>
              <a:rPr b="1" spc="-35" dirty="0">
                <a:sym typeface="+mn-ea"/>
              </a:rPr>
              <a:t>cripting</a:t>
            </a:r>
            <a:r>
              <a:rPr lang="en-US" b="1" spc="-35" dirty="0">
                <a:sym typeface="+mn-ea"/>
              </a:rPr>
              <a:t>?</a:t>
            </a:r>
            <a:endParaRPr lang="en-US" b="1"/>
          </a:p>
        </p:txBody>
      </p:sp>
      <p:sp>
        <p:nvSpPr>
          <p:cNvPr id="3" name="Content Placeholder 2"/>
          <p:cNvSpPr>
            <a:spLocks noGrp="1"/>
          </p:cNvSpPr>
          <p:nvPr>
            <p:ph idx="1"/>
          </p:nvPr>
        </p:nvSpPr>
        <p:spPr/>
        <p:txBody>
          <a:bodyPr/>
          <a:lstStyle/>
          <a:p>
            <a:pPr marL="354330" marR="5080" indent="-333375">
              <a:lnSpc>
                <a:spcPts val="2880"/>
              </a:lnSpc>
              <a:spcBef>
                <a:spcPts val="285"/>
              </a:spcBef>
              <a:buClr>
                <a:srgbClr val="EB0800"/>
              </a:buClr>
              <a:buChar char="•"/>
              <a:tabLst>
                <a:tab pos="357505" algn="l"/>
              </a:tabLst>
            </a:pPr>
            <a:r>
              <a:rPr sz="2800" spc="-45" dirty="0">
                <a:latin typeface="Arial" panose="020B0604020202020204" pitchFamily="34" charset="0"/>
                <a:cs typeface="Arial" panose="020B0604020202020204" pitchFamily="34" charset="0"/>
                <a:sym typeface="+mn-ea"/>
              </a:rPr>
              <a:t>Scripting</a:t>
            </a:r>
            <a:r>
              <a:rPr sz="2800" spc="-114"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is</a:t>
            </a:r>
            <a:r>
              <a:rPr sz="2800" spc="-175"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the</a:t>
            </a:r>
            <a:r>
              <a:rPr sz="2800" spc="-175" dirty="0">
                <a:latin typeface="Arial" panose="020B0604020202020204" pitchFamily="34" charset="0"/>
                <a:cs typeface="Arial" panose="020B0604020202020204" pitchFamily="34" charset="0"/>
                <a:sym typeface="+mn-ea"/>
              </a:rPr>
              <a:t> </a:t>
            </a:r>
            <a:r>
              <a:rPr sz="2800" spc="-50" dirty="0">
                <a:latin typeface="Arial" panose="020B0604020202020204" pitchFamily="34" charset="0"/>
                <a:cs typeface="Arial" panose="020B0604020202020204" pitchFamily="34" charset="0"/>
                <a:sym typeface="+mn-ea"/>
              </a:rPr>
              <a:t>process</a:t>
            </a:r>
            <a:r>
              <a:rPr sz="2800" spc="-40"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of</a:t>
            </a:r>
            <a:r>
              <a:rPr sz="2800" spc="-95" dirty="0">
                <a:latin typeface="Arial" panose="020B0604020202020204" pitchFamily="34" charset="0"/>
                <a:cs typeface="Arial" panose="020B0604020202020204" pitchFamily="34" charset="0"/>
                <a:sym typeface="+mn-ea"/>
              </a:rPr>
              <a:t> </a:t>
            </a:r>
            <a:r>
              <a:rPr sz="2800" spc="-65" dirty="0">
                <a:latin typeface="Arial" panose="020B0604020202020204" pitchFamily="34" charset="0"/>
                <a:cs typeface="Arial" panose="020B0604020202020204" pitchFamily="34" charset="0"/>
                <a:sym typeface="+mn-ea"/>
              </a:rPr>
              <a:t>programming</a:t>
            </a:r>
            <a:r>
              <a:rPr sz="2800" spc="-20" dirty="0">
                <a:latin typeface="Arial" panose="020B0604020202020204" pitchFamily="34" charset="0"/>
                <a:cs typeface="Arial" panose="020B0604020202020204" pitchFamily="34" charset="0"/>
                <a:sym typeface="+mn-ea"/>
              </a:rPr>
              <a:t> </a:t>
            </a:r>
            <a:r>
              <a:rPr sz="2800" spc="-40" dirty="0">
                <a:latin typeface="Arial" panose="020B0604020202020204" pitchFamily="34" charset="0"/>
                <a:cs typeface="Arial" panose="020B0604020202020204" pitchFamily="34" charset="0"/>
                <a:sym typeface="+mn-ea"/>
              </a:rPr>
              <a:t>using</a:t>
            </a:r>
            <a:r>
              <a:rPr sz="2800" spc="-105"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a</a:t>
            </a:r>
            <a:r>
              <a:rPr sz="2800" spc="-175" dirty="0">
                <a:latin typeface="Arial" panose="020B0604020202020204" pitchFamily="34" charset="0"/>
                <a:cs typeface="Arial" panose="020B0604020202020204" pitchFamily="34" charset="0"/>
                <a:sym typeface="+mn-ea"/>
              </a:rPr>
              <a:t> </a:t>
            </a:r>
            <a:r>
              <a:rPr sz="2800" spc="-20" dirty="0">
                <a:latin typeface="Arial" panose="020B0604020202020204" pitchFamily="34" charset="0"/>
                <a:cs typeface="Arial" panose="020B0604020202020204" pitchFamily="34" charset="0"/>
                <a:sym typeface="+mn-ea"/>
              </a:rPr>
              <a:t>scripting </a:t>
            </a:r>
            <a:r>
              <a:rPr sz="2800" spc="-10" dirty="0">
                <a:latin typeface="Arial" panose="020B0604020202020204" pitchFamily="34" charset="0"/>
                <a:cs typeface="Arial" panose="020B0604020202020204" pitchFamily="34" charset="0"/>
                <a:sym typeface="+mn-ea"/>
              </a:rPr>
              <a:t>language</a:t>
            </a:r>
          </a:p>
          <a:p>
            <a:pPr marL="20955" marR="5080" indent="0">
              <a:lnSpc>
                <a:spcPts val="2880"/>
              </a:lnSpc>
              <a:spcBef>
                <a:spcPts val="285"/>
              </a:spcBef>
              <a:buClr>
                <a:srgbClr val="EB0800"/>
              </a:buClr>
              <a:buNone/>
              <a:tabLst>
                <a:tab pos="357505" algn="l"/>
              </a:tabLst>
            </a:pPr>
            <a:endParaRPr sz="2800">
              <a:latin typeface="Arial" panose="020B0604020202020204" pitchFamily="34" charset="0"/>
              <a:cs typeface="Arial" panose="020B0604020202020204" pitchFamily="34" charset="0"/>
            </a:endParaRPr>
          </a:p>
          <a:p>
            <a:pPr marL="356870" marR="756920" indent="-344805">
              <a:lnSpc>
                <a:spcPct val="96000"/>
              </a:lnSpc>
              <a:spcBef>
                <a:spcPts val="540"/>
              </a:spcBef>
              <a:buChar char="•"/>
              <a:tabLst>
                <a:tab pos="356870" algn="l"/>
                <a:tab pos="360045" algn="l"/>
              </a:tabLst>
            </a:pPr>
            <a:r>
              <a:rPr sz="2800" dirty="0">
                <a:solidFill>
                  <a:srgbClr val="FD0808"/>
                </a:solidFill>
                <a:latin typeface="Arial" panose="020B0604020202020204" pitchFamily="34" charset="0"/>
                <a:cs typeface="Arial" panose="020B0604020202020204" pitchFamily="34" charset="0"/>
                <a:sym typeface="+mn-ea"/>
              </a:rPr>
              <a:t>	</a:t>
            </a:r>
            <a:r>
              <a:rPr sz="2800" spc="-175" dirty="0">
                <a:latin typeface="Arial" panose="020B0604020202020204" pitchFamily="34" charset="0"/>
                <a:cs typeface="Arial" panose="020B0604020202020204" pitchFamily="34" charset="0"/>
                <a:sym typeface="+mn-ea"/>
              </a:rPr>
              <a:t>A</a:t>
            </a:r>
            <a:r>
              <a:rPr sz="2800" spc="-110" dirty="0">
                <a:latin typeface="Arial" panose="020B0604020202020204" pitchFamily="34" charset="0"/>
                <a:cs typeface="Arial" panose="020B0604020202020204" pitchFamily="34" charset="0"/>
                <a:sym typeface="+mn-ea"/>
              </a:rPr>
              <a:t> </a:t>
            </a:r>
            <a:r>
              <a:rPr sz="2800" spc="-40" dirty="0">
                <a:latin typeface="Arial" panose="020B0604020202020204" pitchFamily="34" charset="0"/>
                <a:cs typeface="Arial" panose="020B0604020202020204" pitchFamily="34" charset="0"/>
                <a:sym typeface="+mn-ea"/>
              </a:rPr>
              <a:t>scripting</a:t>
            </a:r>
            <a:r>
              <a:rPr sz="2800" spc="-135" dirty="0">
                <a:latin typeface="Arial" panose="020B0604020202020204" pitchFamily="34" charset="0"/>
                <a:cs typeface="Arial" panose="020B0604020202020204" pitchFamily="34" charset="0"/>
                <a:sym typeface="+mn-ea"/>
              </a:rPr>
              <a:t> </a:t>
            </a:r>
            <a:r>
              <a:rPr sz="2800" spc="-60" dirty="0">
                <a:latin typeface="Arial" panose="020B0604020202020204" pitchFamily="34" charset="0"/>
                <a:cs typeface="Arial" panose="020B0604020202020204" pitchFamily="34" charset="0"/>
                <a:sym typeface="+mn-ea"/>
              </a:rPr>
              <a:t>language,</a:t>
            </a:r>
            <a:r>
              <a:rPr sz="2800" spc="-110" dirty="0">
                <a:latin typeface="Arial" panose="020B0604020202020204" pitchFamily="34" charset="0"/>
                <a:cs typeface="Arial" panose="020B0604020202020204" pitchFamily="34" charset="0"/>
                <a:sym typeface="+mn-ea"/>
              </a:rPr>
              <a:t> </a:t>
            </a:r>
            <a:r>
              <a:rPr sz="2800" spc="-20" dirty="0">
                <a:latin typeface="Arial" panose="020B0604020202020204" pitchFamily="34" charset="0"/>
                <a:cs typeface="Arial" panose="020B0604020202020204" pitchFamily="34" charset="0"/>
                <a:sym typeface="+mn-ea"/>
              </a:rPr>
              <a:t>like</a:t>
            </a:r>
            <a:r>
              <a:rPr sz="2800" spc="-150"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C,</a:t>
            </a:r>
            <a:r>
              <a:rPr sz="2800" spc="-155" dirty="0">
                <a:latin typeface="Arial" panose="020B0604020202020204" pitchFamily="34" charset="0"/>
                <a:cs typeface="Arial" panose="020B0604020202020204" pitchFamily="34" charset="0"/>
                <a:sym typeface="+mn-ea"/>
              </a:rPr>
              <a:t> </a:t>
            </a:r>
            <a:r>
              <a:rPr sz="2800" spc="-40" dirty="0">
                <a:latin typeface="Arial" panose="020B0604020202020204" pitchFamily="34" charset="0"/>
                <a:cs typeface="Arial" panose="020B0604020202020204" pitchFamily="34" charset="0"/>
                <a:sym typeface="+mn-ea"/>
              </a:rPr>
              <a:t>Fortran,</a:t>
            </a:r>
            <a:r>
              <a:rPr sz="2800" spc="-35" dirty="0">
                <a:latin typeface="Arial" panose="020B0604020202020204" pitchFamily="34" charset="0"/>
                <a:cs typeface="Arial" panose="020B0604020202020204" pitchFamily="34" charset="0"/>
                <a:sym typeface="+mn-ea"/>
              </a:rPr>
              <a:t> </a:t>
            </a:r>
            <a:r>
              <a:rPr sz="2800" spc="-70" dirty="0">
                <a:latin typeface="Arial" panose="020B0604020202020204" pitchFamily="34" charset="0"/>
                <a:cs typeface="Arial" panose="020B0604020202020204" pitchFamily="34" charset="0"/>
                <a:sym typeface="+mn-ea"/>
              </a:rPr>
              <a:t>and</a:t>
            </a:r>
            <a:r>
              <a:rPr sz="2800" spc="-105" dirty="0">
                <a:latin typeface="Arial" panose="020B0604020202020204" pitchFamily="34" charset="0"/>
                <a:cs typeface="Arial" panose="020B0604020202020204" pitchFamily="34" charset="0"/>
                <a:sym typeface="+mn-ea"/>
              </a:rPr>
              <a:t> </a:t>
            </a:r>
            <a:r>
              <a:rPr sz="2800" spc="-30" dirty="0">
                <a:latin typeface="Arial" panose="020B0604020202020204" pitchFamily="34" charset="0"/>
                <a:cs typeface="Arial" panose="020B0604020202020204" pitchFamily="34" charset="0"/>
                <a:sym typeface="+mn-ea"/>
              </a:rPr>
              <a:t>Java,</a:t>
            </a:r>
            <a:r>
              <a:rPr sz="2800" spc="-80" dirty="0">
                <a:latin typeface="Arial" panose="020B0604020202020204" pitchFamily="34" charset="0"/>
                <a:cs typeface="Arial" panose="020B0604020202020204" pitchFamily="34" charset="0"/>
                <a:sym typeface="+mn-ea"/>
              </a:rPr>
              <a:t> </a:t>
            </a:r>
            <a:r>
              <a:rPr sz="2800" spc="-25" dirty="0">
                <a:latin typeface="Arial" panose="020B0604020202020204" pitchFamily="34" charset="0"/>
                <a:cs typeface="Arial" panose="020B0604020202020204" pitchFamily="34" charset="0"/>
                <a:sym typeface="+mn-ea"/>
              </a:rPr>
              <a:t>has </a:t>
            </a:r>
            <a:r>
              <a:rPr sz="2800" spc="-65" dirty="0">
                <a:latin typeface="Arial" panose="020B0604020202020204" pitchFamily="34" charset="0"/>
                <a:cs typeface="Arial" panose="020B0604020202020204" pitchFamily="34" charset="0"/>
                <a:sym typeface="+mn-ea"/>
              </a:rPr>
              <a:t>expressions,</a:t>
            </a:r>
            <a:r>
              <a:rPr sz="2800" spc="45" dirty="0">
                <a:latin typeface="Arial" panose="020B0604020202020204" pitchFamily="34" charset="0"/>
                <a:cs typeface="Arial" panose="020B0604020202020204" pitchFamily="34" charset="0"/>
                <a:sym typeface="+mn-ea"/>
              </a:rPr>
              <a:t> </a:t>
            </a:r>
            <a:r>
              <a:rPr sz="2800" spc="-55" dirty="0">
                <a:latin typeface="Arial" panose="020B0604020202020204" pitchFamily="34" charset="0"/>
                <a:cs typeface="Arial" panose="020B0604020202020204" pitchFamily="34" charset="0"/>
                <a:sym typeface="+mn-ea"/>
              </a:rPr>
              <a:t>conditional</a:t>
            </a:r>
            <a:r>
              <a:rPr sz="2800" spc="60" dirty="0">
                <a:latin typeface="Arial" panose="020B0604020202020204" pitchFamily="34" charset="0"/>
                <a:cs typeface="Arial" panose="020B0604020202020204" pitchFamily="34" charset="0"/>
                <a:sym typeface="+mn-ea"/>
              </a:rPr>
              <a:t> </a:t>
            </a:r>
            <a:r>
              <a:rPr sz="2800" spc="-60" dirty="0">
                <a:latin typeface="Arial" panose="020B0604020202020204" pitchFamily="34" charset="0"/>
                <a:cs typeface="Arial" panose="020B0604020202020204" pitchFamily="34" charset="0"/>
                <a:sym typeface="+mn-ea"/>
              </a:rPr>
              <a:t>statements,</a:t>
            </a:r>
            <a:r>
              <a:rPr sz="2800" spc="50" dirty="0">
                <a:latin typeface="Arial" panose="020B0604020202020204" pitchFamily="34" charset="0"/>
                <a:cs typeface="Arial" panose="020B0604020202020204" pitchFamily="34" charset="0"/>
                <a:sym typeface="+mn-ea"/>
              </a:rPr>
              <a:t> </a:t>
            </a:r>
            <a:r>
              <a:rPr sz="2800" spc="-45" dirty="0">
                <a:latin typeface="Arial" panose="020B0604020202020204" pitchFamily="34" charset="0"/>
                <a:cs typeface="Arial" panose="020B0604020202020204" pitchFamily="34" charset="0"/>
                <a:sym typeface="+mn-ea"/>
              </a:rPr>
              <a:t>and</a:t>
            </a:r>
            <a:r>
              <a:rPr sz="2800" spc="-130" dirty="0">
                <a:latin typeface="Arial" panose="020B0604020202020204" pitchFamily="34" charset="0"/>
                <a:cs typeface="Arial" panose="020B0604020202020204" pitchFamily="34" charset="0"/>
                <a:sym typeface="+mn-ea"/>
              </a:rPr>
              <a:t> </a:t>
            </a:r>
            <a:r>
              <a:rPr sz="2800" spc="-20" dirty="0">
                <a:latin typeface="Arial" panose="020B0604020202020204" pitchFamily="34" charset="0"/>
                <a:cs typeface="Arial" panose="020B0604020202020204" pitchFamily="34" charset="0"/>
                <a:sym typeface="+mn-ea"/>
              </a:rPr>
              <a:t>loop </a:t>
            </a:r>
            <a:r>
              <a:rPr sz="2800" spc="-10" dirty="0">
                <a:latin typeface="Arial" panose="020B0604020202020204" pitchFamily="34" charset="0"/>
                <a:cs typeface="Arial" panose="020B0604020202020204" pitchFamily="34" charset="0"/>
                <a:sym typeface="+mn-ea"/>
              </a:rPr>
              <a:t>statements.</a:t>
            </a:r>
          </a:p>
          <a:p>
            <a:pPr marL="12065" marR="756920" indent="0">
              <a:lnSpc>
                <a:spcPct val="96000"/>
              </a:lnSpc>
              <a:spcBef>
                <a:spcPts val="540"/>
              </a:spcBef>
              <a:buNone/>
              <a:tabLst>
                <a:tab pos="356870" algn="l"/>
                <a:tab pos="360045" algn="l"/>
              </a:tabLst>
            </a:pPr>
            <a:endParaRPr sz="2800">
              <a:latin typeface="Arial" panose="020B0604020202020204" pitchFamily="34" charset="0"/>
              <a:cs typeface="Arial" panose="020B0604020202020204" pitchFamily="34" charset="0"/>
            </a:endParaRPr>
          </a:p>
          <a:p>
            <a:pPr marL="353060" indent="-340360">
              <a:lnSpc>
                <a:spcPct val="100000"/>
              </a:lnSpc>
              <a:spcBef>
                <a:spcPts val="570"/>
              </a:spcBef>
              <a:buClr>
                <a:srgbClr val="F40300"/>
              </a:buClr>
              <a:buChar char="•"/>
              <a:tabLst>
                <a:tab pos="353060" algn="l"/>
              </a:tabLst>
            </a:pPr>
            <a:r>
              <a:rPr sz="2800" spc="-10" dirty="0">
                <a:latin typeface="Arial" panose="020B0604020202020204" pitchFamily="34" charset="0"/>
                <a:cs typeface="Arial" panose="020B0604020202020204" pitchFamily="34" charset="0"/>
                <a:sym typeface="+mn-ea"/>
              </a:rPr>
              <a:t>Unlike</a:t>
            </a:r>
            <a:r>
              <a:rPr sz="2800" spc="-135" dirty="0">
                <a:latin typeface="Arial" panose="020B0604020202020204" pitchFamily="34" charset="0"/>
                <a:cs typeface="Arial" panose="020B0604020202020204" pitchFamily="34" charset="0"/>
                <a:sym typeface="+mn-ea"/>
              </a:rPr>
              <a:t> </a:t>
            </a:r>
            <a:r>
              <a:rPr lang="en-US" sz="2800" spc="-135" dirty="0">
                <a:latin typeface="Arial" panose="020B0604020202020204" pitchFamily="34" charset="0"/>
                <a:cs typeface="Arial" panose="020B0604020202020204" pitchFamily="34" charset="0"/>
                <a:sym typeface="+mn-ea"/>
              </a:rPr>
              <a:t>C</a:t>
            </a:r>
            <a:r>
              <a:rPr lang="en-US" sz="2800" spc="-44" baseline="3000" dirty="0">
                <a:latin typeface="Arial" panose="020B0604020202020204" pitchFamily="34" charset="0"/>
                <a:cs typeface="Arial" panose="020B0604020202020204" pitchFamily="34" charset="0"/>
                <a:sym typeface="+mn-ea"/>
              </a:rPr>
              <a:t>, </a:t>
            </a:r>
            <a:r>
              <a:rPr sz="2800" spc="-30" dirty="0">
                <a:latin typeface="Arial" panose="020B0604020202020204" pitchFamily="34" charset="0"/>
                <a:cs typeface="Arial" panose="020B0604020202020204" pitchFamily="34" charset="0"/>
                <a:sym typeface="+mn-ea"/>
              </a:rPr>
              <a:t>Fortran,</a:t>
            </a:r>
            <a:r>
              <a:rPr sz="2800" spc="-35" dirty="0">
                <a:latin typeface="Arial" panose="020B0604020202020204" pitchFamily="34" charset="0"/>
                <a:cs typeface="Arial" panose="020B0604020202020204" pitchFamily="34" charset="0"/>
                <a:sym typeface="+mn-ea"/>
              </a:rPr>
              <a:t> </a:t>
            </a:r>
            <a:r>
              <a:rPr sz="2800" spc="-25" dirty="0">
                <a:latin typeface="Arial" panose="020B0604020202020204" pitchFamily="34" charset="0"/>
                <a:cs typeface="Arial" panose="020B0604020202020204" pitchFamily="34" charset="0"/>
                <a:sym typeface="+mn-ea"/>
              </a:rPr>
              <a:t>and</a:t>
            </a:r>
            <a:r>
              <a:rPr sz="2800" spc="-145"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Java</a:t>
            </a:r>
            <a:r>
              <a:rPr lang="en-US" sz="2800" dirty="0">
                <a:latin typeface="Arial" panose="020B0604020202020204" pitchFamily="34" charset="0"/>
                <a:cs typeface="Arial" panose="020B0604020202020204" pitchFamily="34" charset="0"/>
                <a:sym typeface="+mn-ea"/>
              </a:rPr>
              <a:t>,</a:t>
            </a:r>
            <a:r>
              <a:rPr sz="2800" spc="-95" dirty="0">
                <a:latin typeface="Arial" panose="020B0604020202020204" pitchFamily="34" charset="0"/>
                <a:cs typeface="Arial" panose="020B0604020202020204" pitchFamily="34" charset="0"/>
                <a:sym typeface="+mn-ea"/>
              </a:rPr>
              <a:t> </a:t>
            </a:r>
            <a:r>
              <a:rPr sz="2800" dirty="0">
                <a:latin typeface="Arial" panose="020B0604020202020204" pitchFamily="34" charset="0"/>
                <a:cs typeface="Arial" panose="020B0604020202020204" pitchFamily="34" charset="0"/>
                <a:sym typeface="+mn-ea"/>
              </a:rPr>
              <a:t>a</a:t>
            </a:r>
            <a:r>
              <a:rPr sz="2800" spc="-170" dirty="0">
                <a:latin typeface="Arial" panose="020B0604020202020204" pitchFamily="34" charset="0"/>
                <a:cs typeface="Arial" panose="020B0604020202020204" pitchFamily="34" charset="0"/>
                <a:sym typeface="+mn-ea"/>
              </a:rPr>
              <a:t> </a:t>
            </a:r>
            <a:r>
              <a:rPr sz="2800" spc="-20" dirty="0">
                <a:latin typeface="Arial" panose="020B0604020202020204" pitchFamily="34" charset="0"/>
                <a:cs typeface="Arial" panose="020B0604020202020204" pitchFamily="34" charset="0"/>
                <a:sym typeface="+mn-ea"/>
              </a:rPr>
              <a:t>scripting</a:t>
            </a:r>
            <a:r>
              <a:rPr sz="2800" spc="-65" dirty="0">
                <a:latin typeface="Arial" panose="020B0604020202020204" pitchFamily="34" charset="0"/>
                <a:cs typeface="Arial" panose="020B0604020202020204" pitchFamily="34" charset="0"/>
                <a:sym typeface="+mn-ea"/>
              </a:rPr>
              <a:t> </a:t>
            </a:r>
            <a:r>
              <a:rPr sz="2800" spc="-35" dirty="0">
                <a:latin typeface="Arial" panose="020B0604020202020204" pitchFamily="34" charset="0"/>
                <a:cs typeface="Arial" panose="020B0604020202020204" pitchFamily="34" charset="0"/>
                <a:sym typeface="+mn-ea"/>
              </a:rPr>
              <a:t>language</a:t>
            </a:r>
            <a:r>
              <a:rPr sz="2800" spc="5" dirty="0">
                <a:latin typeface="Arial" panose="020B0604020202020204" pitchFamily="34" charset="0"/>
                <a:cs typeface="Arial" panose="020B0604020202020204" pitchFamily="34" charset="0"/>
                <a:sym typeface="+mn-ea"/>
              </a:rPr>
              <a:t> </a:t>
            </a:r>
            <a:r>
              <a:rPr sz="2800" spc="-25" dirty="0">
                <a:latin typeface="Arial" panose="020B0604020202020204" pitchFamily="34" charset="0"/>
                <a:cs typeface="Arial" panose="020B0604020202020204" pitchFamily="34" charset="0"/>
                <a:sym typeface="+mn-ea"/>
              </a:rPr>
              <a:t>has</a:t>
            </a:r>
            <a:endParaRPr sz="2800">
              <a:latin typeface="Arial" panose="020B0604020202020204" pitchFamily="34" charset="0"/>
              <a:cs typeface="Arial" panose="020B0604020202020204" pitchFamily="34" charset="0"/>
            </a:endParaRPr>
          </a:p>
          <a:p>
            <a:pPr marL="478790">
              <a:lnSpc>
                <a:spcPct val="100000"/>
              </a:lnSpc>
              <a:spcBef>
                <a:spcPts val="375"/>
              </a:spcBef>
              <a:tabLst>
                <a:tab pos="760095" algn="l"/>
              </a:tabLst>
            </a:pPr>
            <a:r>
              <a:rPr sz="2800" spc="-50" dirty="0">
                <a:solidFill>
                  <a:srgbClr val="757575"/>
                </a:solidFill>
                <a:latin typeface="Arial" panose="020B0604020202020204" pitchFamily="34" charset="0"/>
                <a:cs typeface="Arial" panose="020B0604020202020204" pitchFamily="34" charset="0"/>
                <a:sym typeface="+mn-ea"/>
              </a:rPr>
              <a:t>+</a:t>
            </a:r>
            <a:r>
              <a:rPr sz="2800" dirty="0">
                <a:solidFill>
                  <a:srgbClr val="757575"/>
                </a:solidFill>
                <a:latin typeface="Arial" panose="020B0604020202020204" pitchFamily="34" charset="0"/>
                <a:cs typeface="Arial" panose="020B0604020202020204" pitchFamily="34" charset="0"/>
                <a:sym typeface="+mn-ea"/>
              </a:rPr>
              <a:t>	</a:t>
            </a:r>
            <a:r>
              <a:rPr sz="2400" spc="-25" dirty="0">
                <a:latin typeface="Arial" panose="020B0604020202020204" pitchFamily="34" charset="0"/>
                <a:cs typeface="Arial" panose="020B0604020202020204" pitchFamily="34" charset="0"/>
                <a:sym typeface="+mn-ea"/>
              </a:rPr>
              <a:t>Loose</a:t>
            </a:r>
            <a:r>
              <a:rPr sz="2400" spc="-105"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typing</a:t>
            </a:r>
            <a:endParaRPr sz="2400">
              <a:latin typeface="Arial" panose="020B0604020202020204" pitchFamily="34" charset="0"/>
              <a:cs typeface="Arial" panose="020B0604020202020204" pitchFamily="34" charset="0"/>
            </a:endParaRPr>
          </a:p>
          <a:p>
            <a:pPr marL="478790">
              <a:lnSpc>
                <a:spcPct val="100000"/>
              </a:lnSpc>
              <a:spcBef>
                <a:spcPts val="425"/>
              </a:spcBef>
              <a:tabLst>
                <a:tab pos="755015" algn="l"/>
              </a:tabLst>
            </a:pPr>
            <a:r>
              <a:rPr sz="2400" spc="-50" dirty="0">
                <a:solidFill>
                  <a:srgbClr val="747474"/>
                </a:solidFill>
                <a:latin typeface="Arial" panose="020B0604020202020204" pitchFamily="34" charset="0"/>
                <a:cs typeface="Arial" panose="020B0604020202020204" pitchFamily="34" charset="0"/>
                <a:sym typeface="+mn-ea"/>
              </a:rPr>
              <a:t>+</a:t>
            </a:r>
            <a:r>
              <a:rPr sz="2400" dirty="0">
                <a:solidFill>
                  <a:srgbClr val="747474"/>
                </a:solidFill>
                <a:latin typeface="Arial" panose="020B0604020202020204" pitchFamily="34" charset="0"/>
                <a:cs typeface="Arial" panose="020B0604020202020204" pitchFamily="34" charset="0"/>
                <a:sym typeface="+mn-ea"/>
              </a:rPr>
              <a:t>	</a:t>
            </a:r>
            <a:r>
              <a:rPr sz="2400" spc="-35" dirty="0">
                <a:latin typeface="Arial" panose="020B0604020202020204" pitchFamily="34" charset="0"/>
                <a:cs typeface="Arial" panose="020B0604020202020204" pitchFamily="34" charset="0"/>
                <a:sym typeface="+mn-ea"/>
              </a:rPr>
              <a:t>Interpreted</a:t>
            </a:r>
            <a:r>
              <a:rPr sz="2400" spc="-10" dirty="0">
                <a:latin typeface="Arial" panose="020B0604020202020204" pitchFamily="34" charset="0"/>
                <a:cs typeface="Arial" panose="020B0604020202020204" pitchFamily="34" charset="0"/>
                <a:sym typeface="+mn-ea"/>
              </a:rPr>
              <a:t> </a:t>
            </a:r>
            <a:r>
              <a:rPr sz="2400" spc="-30" dirty="0">
                <a:latin typeface="Arial" panose="020B0604020202020204" pitchFamily="34" charset="0"/>
                <a:cs typeface="Arial" panose="020B0604020202020204" pitchFamily="34" charset="0"/>
                <a:sym typeface="+mn-ea"/>
              </a:rPr>
              <a:t>rather</a:t>
            </a:r>
            <a:r>
              <a:rPr sz="2400" spc="-4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than</a:t>
            </a:r>
            <a:r>
              <a:rPr sz="2400" spc="-145"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compiled</a:t>
            </a:r>
            <a:endParaRPr sz="2400">
              <a:latin typeface="Arial" panose="020B0604020202020204" pitchFamily="34" charset="0"/>
              <a:cs typeface="Arial" panose="020B0604020202020204" pitchFamily="34" charset="0"/>
            </a:endParaRPr>
          </a:p>
          <a:p>
            <a:pPr marL="478790">
              <a:lnSpc>
                <a:spcPct val="100000"/>
              </a:lnSpc>
              <a:spcBef>
                <a:spcPts val="370"/>
              </a:spcBef>
              <a:tabLst>
                <a:tab pos="758190" algn="l"/>
              </a:tabLst>
            </a:pPr>
            <a:r>
              <a:rPr sz="2400" spc="-50" dirty="0">
                <a:solidFill>
                  <a:srgbClr val="7B7B7B"/>
                </a:solidFill>
                <a:latin typeface="Arial" panose="020B0604020202020204" pitchFamily="34" charset="0"/>
                <a:cs typeface="Arial" panose="020B0604020202020204" pitchFamily="34" charset="0"/>
                <a:sym typeface="+mn-ea"/>
              </a:rPr>
              <a:t>+</a:t>
            </a:r>
            <a:r>
              <a:rPr sz="2400" dirty="0">
                <a:solidFill>
                  <a:srgbClr val="7B7B7B"/>
                </a:solidFill>
                <a:latin typeface="Arial" panose="020B0604020202020204" pitchFamily="34" charset="0"/>
                <a:cs typeface="Arial" panose="020B0604020202020204" pitchFamily="34" charset="0"/>
                <a:sym typeface="+mn-ea"/>
              </a:rPr>
              <a:t>	</a:t>
            </a:r>
            <a:r>
              <a:rPr sz="2400" spc="-45" dirty="0">
                <a:latin typeface="Arial" panose="020B0604020202020204" pitchFamily="34" charset="0"/>
                <a:cs typeface="Arial" panose="020B0604020202020204" pitchFamily="34" charset="0"/>
                <a:sym typeface="+mn-ea"/>
              </a:rPr>
              <a:t>Usually</a:t>
            </a:r>
            <a:r>
              <a:rPr sz="2400" spc="-2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as</a:t>
            </a:r>
            <a:r>
              <a:rPr sz="2400" spc="-120" dirty="0">
                <a:latin typeface="Arial" panose="020B0604020202020204" pitchFamily="34" charset="0"/>
                <a:cs typeface="Arial" panose="020B0604020202020204" pitchFamily="34" charset="0"/>
                <a:sym typeface="+mn-ea"/>
              </a:rPr>
              <a:t> </a:t>
            </a:r>
            <a:r>
              <a:rPr sz="2400" spc="-60" dirty="0">
                <a:latin typeface="Arial" panose="020B0604020202020204" pitchFamily="34" charset="0"/>
                <a:cs typeface="Arial" panose="020B0604020202020204" pitchFamily="34" charset="0"/>
                <a:sym typeface="+mn-ea"/>
              </a:rPr>
              <a:t>some</a:t>
            </a:r>
            <a:r>
              <a:rPr sz="2400" spc="-85" dirty="0">
                <a:latin typeface="Arial" panose="020B0604020202020204" pitchFamily="34" charset="0"/>
                <a:cs typeface="Arial" panose="020B0604020202020204" pitchFamily="34" charset="0"/>
                <a:sym typeface="+mn-ea"/>
              </a:rPr>
              <a:t> </a:t>
            </a:r>
            <a:r>
              <a:rPr sz="2400" spc="-35" dirty="0">
                <a:latin typeface="Arial" panose="020B0604020202020204" pitchFamily="34" charset="0"/>
                <a:cs typeface="Arial" panose="020B0604020202020204" pitchFamily="34" charset="0"/>
                <a:sym typeface="+mn-ea"/>
              </a:rPr>
              <a:t>higher</a:t>
            </a:r>
            <a:r>
              <a:rPr sz="2400" spc="-50" dirty="0">
                <a:latin typeface="Arial" panose="020B0604020202020204" pitchFamily="34" charset="0"/>
                <a:cs typeface="Arial" panose="020B0604020202020204" pitchFamily="34" charset="0"/>
                <a:sym typeface="+mn-ea"/>
              </a:rPr>
              <a:t> </a:t>
            </a:r>
            <a:r>
              <a:rPr sz="2400" spc="-25" dirty="0">
                <a:latin typeface="Arial" panose="020B0604020202020204" pitchFamily="34" charset="0"/>
                <a:cs typeface="Arial" panose="020B0604020202020204" pitchFamily="34" charset="0"/>
                <a:sym typeface="+mn-ea"/>
              </a:rPr>
              <a:t>level</a:t>
            </a:r>
            <a:r>
              <a:rPr sz="2400" spc="-85" dirty="0">
                <a:latin typeface="Arial" panose="020B0604020202020204" pitchFamily="34" charset="0"/>
                <a:cs typeface="Arial" panose="020B0604020202020204" pitchFamily="34" charset="0"/>
                <a:sym typeface="+mn-ea"/>
              </a:rPr>
              <a:t> </a:t>
            </a:r>
            <a:r>
              <a:rPr sz="2400" spc="-45" dirty="0">
                <a:latin typeface="Arial" panose="020B0604020202020204" pitchFamily="34" charset="0"/>
                <a:cs typeface="Arial" panose="020B0604020202020204" pitchFamily="34" charset="0"/>
                <a:sym typeface="+mn-ea"/>
              </a:rPr>
              <a:t>abstractions</a:t>
            </a:r>
            <a:r>
              <a:rPr sz="2400" spc="-5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or</a:t>
            </a:r>
            <a:r>
              <a:rPr sz="2400" spc="-90" dirty="0">
                <a:latin typeface="Arial" panose="020B0604020202020204" pitchFamily="34" charset="0"/>
                <a:cs typeface="Arial" panose="020B0604020202020204" pitchFamily="34" charset="0"/>
                <a:sym typeface="+mn-ea"/>
              </a:rPr>
              <a:t> </a:t>
            </a:r>
            <a:r>
              <a:rPr sz="2400" spc="-65" dirty="0">
                <a:latin typeface="Arial" panose="020B0604020202020204" pitchFamily="34" charset="0"/>
                <a:cs typeface="Arial" panose="020B0604020202020204" pitchFamily="34" charset="0"/>
                <a:sym typeface="+mn-ea"/>
              </a:rPr>
              <a:t>built-</a:t>
            </a:r>
            <a:r>
              <a:rPr sz="2400" dirty="0">
                <a:latin typeface="Arial" panose="020B0604020202020204" pitchFamily="34" charset="0"/>
                <a:cs typeface="Arial" panose="020B0604020202020204" pitchFamily="34" charset="0"/>
                <a:sym typeface="+mn-ea"/>
              </a:rPr>
              <a:t>in</a:t>
            </a:r>
            <a:r>
              <a:rPr sz="2400" spc="-45"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functionality</a:t>
            </a:r>
            <a:endParaRPr sz="2400">
              <a:latin typeface="Arial" panose="020B0604020202020204" pitchFamily="34" charset="0"/>
              <a:cs typeface="Arial" panose="020B0604020202020204" pitchFamily="34" charset="0"/>
            </a:endParaRPr>
          </a:p>
          <a:p>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Origin of Scripting</a:t>
            </a:r>
          </a:p>
        </p:txBody>
      </p:sp>
      <p:sp>
        <p:nvSpPr>
          <p:cNvPr id="3" name="Content Placeholder 2"/>
          <p:cNvSpPr>
            <a:spLocks noGrp="1"/>
          </p:cNvSpPr>
          <p:nvPr>
            <p:ph idx="1"/>
          </p:nvPr>
        </p:nvSpPr>
        <p:spPr/>
        <p:txBody>
          <a:bodyPr/>
          <a:lstStyle/>
          <a:p>
            <a:r>
              <a:rPr lang="en-US" sz="2400" dirty="0"/>
              <a:t>The use of the word ‘script’ in a computing context dates back to the early 1970s, when the originators of the UNIX operating system created the term shell script for sequence of commands that were to be read from a file and follow in sequence as if they had been typed in at the keyword.</a:t>
            </a:r>
          </a:p>
          <a:p>
            <a:pPr marL="0" indent="0">
              <a:buNone/>
            </a:pPr>
            <a:endParaRPr lang="en-US" sz="2400" dirty="0"/>
          </a:p>
          <a:p>
            <a:r>
              <a:rPr lang="en-US" sz="2400" dirty="0"/>
              <a:t>The name ‘script’ being used for a text file that was intended to be executed directly rather than being compiled to a different form of file prior to execution.</a:t>
            </a:r>
          </a:p>
          <a:p>
            <a:pPr marL="0" indent="0">
              <a:buNone/>
            </a:pPr>
            <a:endParaRPr lang="en-US" sz="2400" dirty="0"/>
          </a:p>
          <a:p>
            <a:r>
              <a:rPr lang="en-US" sz="2400" dirty="0"/>
              <a:t>Scripts only become interesting when they have the added value that comes from using programming concepts such as loops and branches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Generalizations About Programming Languages</a:t>
            </a:r>
            <a:endParaRPr lang="en-US"/>
          </a:p>
        </p:txBody>
      </p:sp>
      <p:sp>
        <p:nvSpPr>
          <p:cNvPr id="3" name="Content Placeholder 2"/>
          <p:cNvSpPr>
            <a:spLocks noGrp="1"/>
          </p:cNvSpPr>
          <p:nvPr>
            <p:ph idx="1"/>
          </p:nvPr>
        </p:nvSpPr>
        <p:spPr/>
        <p:txBody>
          <a:bodyPr/>
          <a:lstStyle/>
          <a:p>
            <a:r>
              <a:rPr lang="en-US" sz="2400"/>
              <a:t>Introduced as an alternative to assembly language</a:t>
            </a:r>
          </a:p>
          <a:p>
            <a:r>
              <a:rPr lang="en-US" sz="2400"/>
              <a:t>Provide “higher level” instructions</a:t>
            </a:r>
          </a:p>
          <a:p>
            <a:r>
              <a:rPr lang="en-US" sz="2400"/>
              <a:t>1 line of code ~ 3-7 assembly instructions</a:t>
            </a:r>
          </a:p>
          <a:p>
            <a:r>
              <a:rPr lang="en-US" sz="2400"/>
              <a:t>Are strongly typed- The “type” determines how data can be used</a:t>
            </a:r>
          </a:p>
          <a:p>
            <a:pPr marL="457200" lvl="1" indent="0">
              <a:buNone/>
            </a:pPr>
            <a:r>
              <a:rPr sz="2100" spc="-50" dirty="0">
                <a:solidFill>
                  <a:srgbClr val="757575"/>
                </a:solidFill>
                <a:latin typeface="Arial" panose="020B0604020202020204" pitchFamily="34" charset="0"/>
                <a:cs typeface="Arial" panose="020B0604020202020204" pitchFamily="34" charset="0"/>
                <a:sym typeface="+mn-ea"/>
              </a:rPr>
              <a:t>+</a:t>
            </a:r>
            <a:r>
              <a:rPr sz="2100" dirty="0">
                <a:solidFill>
                  <a:srgbClr val="757575"/>
                </a:solidFill>
                <a:latin typeface="Arial" panose="020B0604020202020204" pitchFamily="34" charset="0"/>
                <a:cs typeface="Arial" panose="020B0604020202020204" pitchFamily="34" charset="0"/>
                <a:sym typeface="+mn-ea"/>
              </a:rPr>
              <a:t>	</a:t>
            </a:r>
            <a:r>
              <a:rPr lang="en-US" sz="2100"/>
              <a:t>Can catch errors at compile time</a:t>
            </a:r>
          </a:p>
          <a:p>
            <a:pPr marL="457200" lvl="1" indent="0">
              <a:buNone/>
            </a:pPr>
            <a:r>
              <a:rPr lang="en-US" sz="2100"/>
              <a:t>Example: using a floating point instead of a pointer</a:t>
            </a:r>
          </a:p>
          <a:p>
            <a:pPr marL="457200" lvl="1" indent="0">
              <a:buNone/>
            </a:pPr>
            <a:endParaRPr lang="en-US" sz="2100"/>
          </a:p>
          <a:p>
            <a:pPr marL="457200" lvl="1" indent="0">
              <a:buNone/>
            </a:pPr>
            <a:r>
              <a:rPr sz="2100" spc="-50" dirty="0">
                <a:solidFill>
                  <a:srgbClr val="757575"/>
                </a:solidFill>
                <a:latin typeface="Arial" panose="020B0604020202020204" pitchFamily="34" charset="0"/>
                <a:cs typeface="Arial" panose="020B0604020202020204" pitchFamily="34" charset="0"/>
                <a:sym typeface="+mn-ea"/>
              </a:rPr>
              <a:t>+</a:t>
            </a:r>
            <a:r>
              <a:rPr sz="2100" dirty="0">
                <a:solidFill>
                  <a:srgbClr val="757575"/>
                </a:solidFill>
                <a:latin typeface="Arial" panose="020B0604020202020204" pitchFamily="34" charset="0"/>
                <a:cs typeface="Arial" panose="020B0604020202020204" pitchFamily="34" charset="0"/>
                <a:sym typeface="+mn-ea"/>
              </a:rPr>
              <a:t>	</a:t>
            </a:r>
            <a:r>
              <a:rPr lang="en-US" sz="2100"/>
              <a:t>Can make large code bases more manageable</a:t>
            </a:r>
          </a:p>
          <a:p>
            <a:pPr marL="457200" lvl="1" indent="0">
              <a:buNone/>
            </a:pPr>
            <a:r>
              <a:rPr lang="en-US" sz="2100"/>
              <a:t>Clarify how things are used</a:t>
            </a:r>
          </a:p>
          <a:p>
            <a:pPr marL="457200" lvl="1" indent="0">
              <a:buNone/>
            </a:pPr>
            <a:endParaRPr lang="en-US" sz="2100"/>
          </a:p>
          <a:p>
            <a:pPr marL="457200" lvl="1" indent="0">
              <a:buNone/>
            </a:pPr>
            <a:r>
              <a:rPr sz="2100" spc="-50" dirty="0">
                <a:solidFill>
                  <a:srgbClr val="757575"/>
                </a:solidFill>
                <a:latin typeface="Arial" panose="020B0604020202020204" pitchFamily="34" charset="0"/>
                <a:cs typeface="Arial" panose="020B0604020202020204" pitchFamily="34" charset="0"/>
                <a:sym typeface="+mn-ea"/>
              </a:rPr>
              <a:t>+</a:t>
            </a:r>
            <a:r>
              <a:rPr sz="2100" dirty="0">
                <a:solidFill>
                  <a:srgbClr val="757575"/>
                </a:solidFill>
                <a:latin typeface="Arial" panose="020B0604020202020204" pitchFamily="34" charset="0"/>
                <a:cs typeface="Arial" panose="020B0604020202020204" pitchFamily="34" charset="0"/>
                <a:sym typeface="+mn-ea"/>
              </a:rPr>
              <a:t>	</a:t>
            </a:r>
            <a:r>
              <a:rPr lang="en-US" sz="2100"/>
              <a:t>Compiler can use type information to generate more efficient code</a:t>
            </a:r>
          </a:p>
          <a:p>
            <a:pPr marL="457200" lvl="1" indent="0">
              <a:buNone/>
            </a:pPr>
            <a:r>
              <a:rPr lang="en-US" sz="2100"/>
              <a:t>Example: can generate integer instructions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Generalizations About Scripting Languages</a:t>
            </a:r>
          </a:p>
        </p:txBody>
      </p:sp>
      <p:sp>
        <p:nvSpPr>
          <p:cNvPr id="3" name="Content Placeholder 2"/>
          <p:cNvSpPr>
            <a:spLocks noGrp="1"/>
          </p:cNvSpPr>
          <p:nvPr>
            <p:ph idx="1"/>
          </p:nvPr>
        </p:nvSpPr>
        <p:spPr>
          <a:xfrm>
            <a:off x="609600" y="1047750"/>
            <a:ext cx="10972800" cy="5080000"/>
          </a:xfrm>
        </p:spPr>
        <p:txBody>
          <a:bodyPr/>
          <a:lstStyle/>
          <a:p>
            <a:r>
              <a:rPr lang="en-US" sz="2400"/>
              <a:t>Interpreted (some compiled internally)</a:t>
            </a:r>
          </a:p>
          <a:p>
            <a:r>
              <a:rPr lang="en-US" sz="2400"/>
              <a:t>Rapid development - no compilation required</a:t>
            </a:r>
          </a:p>
          <a:p>
            <a:r>
              <a:rPr lang="en-US" sz="2400"/>
              <a:t>Portability - cross platform (since not compiling - no machine code)</a:t>
            </a:r>
          </a:p>
          <a:p>
            <a:r>
              <a:rPr lang="en-US" sz="2400"/>
              <a:t>Slower than compled languages</a:t>
            </a:r>
          </a:p>
          <a:p>
            <a:r>
              <a:rPr lang="en-US" sz="2400"/>
              <a:t>Frequently no “main”</a:t>
            </a:r>
          </a:p>
          <a:p>
            <a:r>
              <a:rPr lang="en-US" sz="2400"/>
              <a:t>Good for controlling and connecting other applications</a:t>
            </a:r>
          </a:p>
          <a:p>
            <a:r>
              <a:rPr lang="en-US" sz="2400"/>
              <a:t>Flexibility</a:t>
            </a:r>
          </a:p>
          <a:p>
            <a:pPr marL="457200" lvl="1" indent="0">
              <a:buNone/>
            </a:pPr>
            <a:r>
              <a:rPr sz="2100" spc="-50" dirty="0">
                <a:solidFill>
                  <a:srgbClr val="757575"/>
                </a:solidFill>
                <a:latin typeface="Arial" panose="020B0604020202020204" pitchFamily="34" charset="0"/>
                <a:cs typeface="Arial" panose="020B0604020202020204" pitchFamily="34" charset="0"/>
                <a:sym typeface="+mn-ea"/>
              </a:rPr>
              <a:t>+</a:t>
            </a:r>
            <a:r>
              <a:rPr sz="2100" dirty="0">
                <a:solidFill>
                  <a:srgbClr val="757575"/>
                </a:solidFill>
                <a:latin typeface="Arial" panose="020B0604020202020204" pitchFamily="34" charset="0"/>
                <a:cs typeface="Arial" panose="020B0604020202020204" pitchFamily="34" charset="0"/>
                <a:sym typeface="+mn-ea"/>
              </a:rPr>
              <a:t>	</a:t>
            </a:r>
            <a:r>
              <a:rPr lang="en-US" sz="2100"/>
              <a:t>Easy to extend</a:t>
            </a:r>
          </a:p>
          <a:p>
            <a:pPr marL="457200" lvl="1" indent="0">
              <a:buNone/>
            </a:pPr>
            <a:r>
              <a:rPr sz="2100" spc="-50" dirty="0">
                <a:solidFill>
                  <a:srgbClr val="757575"/>
                </a:solidFill>
                <a:latin typeface="Arial" panose="020B0604020202020204" pitchFamily="34" charset="0"/>
                <a:cs typeface="Arial" panose="020B0604020202020204" pitchFamily="34" charset="0"/>
                <a:sym typeface="+mn-ea"/>
              </a:rPr>
              <a:t>+</a:t>
            </a:r>
            <a:r>
              <a:rPr sz="2100" dirty="0">
                <a:solidFill>
                  <a:srgbClr val="757575"/>
                </a:solidFill>
                <a:latin typeface="Arial" panose="020B0604020202020204" pitchFamily="34" charset="0"/>
                <a:cs typeface="Arial" panose="020B0604020202020204" pitchFamily="34" charset="0"/>
                <a:sym typeface="+mn-ea"/>
              </a:rPr>
              <a:t>	</a:t>
            </a:r>
            <a:r>
              <a:rPr lang="en-US" sz="2100"/>
              <a:t>Vast libraries and extensions available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75590" y="190500"/>
            <a:ext cx="11306810" cy="1044575"/>
          </a:xfrm>
        </p:spPr>
        <p:txBody>
          <a:bodyPr/>
          <a:lstStyle/>
          <a:p>
            <a:r>
              <a:rPr lang="en-US" b="1">
                <a:sym typeface="+mn-ea"/>
              </a:rPr>
              <a:t>Differences between Scripting Languages and Programming Languages</a:t>
            </a:r>
            <a:endParaRPr lang="en-US"/>
          </a:p>
        </p:txBody>
      </p:sp>
      <p:sp>
        <p:nvSpPr>
          <p:cNvPr id="3" name="Content Placeholder 2"/>
          <p:cNvSpPr>
            <a:spLocks noGrp="1"/>
          </p:cNvSpPr>
          <p:nvPr>
            <p:ph idx="1"/>
          </p:nvPr>
        </p:nvSpPr>
        <p:spPr>
          <a:xfrm>
            <a:off x="609600" y="1413510"/>
            <a:ext cx="10972800" cy="4714240"/>
          </a:xfrm>
        </p:spPr>
        <p:txBody>
          <a:bodyPr/>
          <a:lstStyle/>
          <a:p>
            <a:r>
              <a:rPr lang="en-US" sz="2400"/>
              <a:t>Some programming languages traditionally used with an explicit compilation step are C, C++</a:t>
            </a:r>
          </a:p>
          <a:p>
            <a:endParaRPr lang="en-US" sz="2400"/>
          </a:p>
          <a:p>
            <a:pPr marL="0" indent="0">
              <a:buNone/>
            </a:pPr>
            <a:r>
              <a:rPr lang="en-US" sz="2400" b="1"/>
              <a:t>Applications of Scripting Languages</a:t>
            </a:r>
          </a:p>
          <a:p>
            <a:r>
              <a:rPr lang="en-US" sz="2400"/>
              <a:t>To automate certain tasks in a program</a:t>
            </a:r>
          </a:p>
          <a:p>
            <a:r>
              <a:rPr lang="en-US" sz="2400"/>
              <a:t>Extracting information from a data set</a:t>
            </a:r>
          </a:p>
          <a:p>
            <a:r>
              <a:rPr lang="en-US" sz="2400"/>
              <a:t>Less code intensive as compared to traditional programming languages</a:t>
            </a:r>
          </a:p>
          <a:p>
            <a:pPr marL="0" indent="0">
              <a:buNone/>
            </a:pPr>
            <a:r>
              <a:rPr lang="en-US" sz="2400" b="1"/>
              <a:t>Applications of Programming Languages</a:t>
            </a:r>
          </a:p>
          <a:p>
            <a:r>
              <a:rPr lang="en-US" sz="2400"/>
              <a:t>They typically run inside a parent program like scripts</a:t>
            </a:r>
          </a:p>
          <a:p>
            <a:r>
              <a:rPr lang="en-US" sz="2400"/>
              <a:t>More compatible while integrating code with mathematical models</a:t>
            </a:r>
          </a:p>
          <a:p>
            <a:r>
              <a:rPr lang="en-US" sz="2400"/>
              <a:t>Languages like C++ can be compiled and then used on any platform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Scripting Languages vs System Languages</a:t>
            </a:r>
            <a:endParaRPr lang="en-US"/>
          </a:p>
        </p:txBody>
      </p:sp>
      <p:graphicFrame>
        <p:nvGraphicFramePr>
          <p:cNvPr id="4" name="Content Placeholder 3"/>
          <p:cNvGraphicFramePr>
            <a:graphicFrameLocks noGrp="1"/>
          </p:cNvGraphicFramePr>
          <p:nvPr>
            <p:ph idx="1"/>
            <p:custDataLst>
              <p:tags r:id="rId1"/>
            </p:custDataLst>
          </p:nvPr>
        </p:nvGraphicFramePr>
        <p:xfrm>
          <a:off x="609600" y="1262380"/>
          <a:ext cx="10972800" cy="4714875"/>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23875">
                <a:tc>
                  <a:txBody>
                    <a:bodyPr/>
                    <a:lstStyle/>
                    <a:p>
                      <a:pPr>
                        <a:buNone/>
                      </a:pPr>
                      <a:r>
                        <a:rPr lang="en-US"/>
                        <a:t>Scripting Languages</a:t>
                      </a:r>
                    </a:p>
                  </a:txBody>
                  <a:tcPr/>
                </a:tc>
                <a:tc>
                  <a:txBody>
                    <a:bodyPr/>
                    <a:lstStyle/>
                    <a:p>
                      <a:pPr>
                        <a:buNone/>
                      </a:pPr>
                      <a:r>
                        <a:rPr lang="en-US"/>
                        <a:t>System Languages</a:t>
                      </a:r>
                    </a:p>
                  </a:txBody>
                  <a:tcPr/>
                </a:tc>
                <a:extLst>
                  <a:ext uri="{0D108BD9-81ED-4DB2-BD59-A6C34878D82A}">
                    <a16:rowId xmlns:a16="http://schemas.microsoft.com/office/drawing/2014/main" val="10000"/>
                  </a:ext>
                </a:extLst>
              </a:tr>
              <a:tr h="523875">
                <a:tc>
                  <a:txBody>
                    <a:bodyPr/>
                    <a:lstStyle/>
                    <a:p>
                      <a:pPr>
                        <a:buNone/>
                      </a:pPr>
                      <a:r>
                        <a:rPr lang="en-US"/>
                        <a:t>Higher level</a:t>
                      </a:r>
                    </a:p>
                  </a:txBody>
                  <a:tcPr/>
                </a:tc>
                <a:tc>
                  <a:txBody>
                    <a:bodyPr/>
                    <a:lstStyle/>
                    <a:p>
                      <a:pPr>
                        <a:buNone/>
                      </a:pPr>
                      <a:r>
                        <a:rPr lang="en-US"/>
                        <a:t>Lower level</a:t>
                      </a:r>
                    </a:p>
                  </a:txBody>
                  <a:tcPr/>
                </a:tc>
                <a:extLst>
                  <a:ext uri="{0D108BD9-81ED-4DB2-BD59-A6C34878D82A}">
                    <a16:rowId xmlns:a16="http://schemas.microsoft.com/office/drawing/2014/main" val="10001"/>
                  </a:ext>
                </a:extLst>
              </a:tr>
              <a:tr h="523875">
                <a:tc>
                  <a:txBody>
                    <a:bodyPr/>
                    <a:lstStyle/>
                    <a:p>
                      <a:pPr>
                        <a:buNone/>
                      </a:pPr>
                      <a:r>
                        <a:rPr lang="en-US"/>
                        <a:t>Gluing components</a:t>
                      </a:r>
                    </a:p>
                  </a:txBody>
                  <a:tcPr/>
                </a:tc>
                <a:tc>
                  <a:txBody>
                    <a:bodyPr/>
                    <a:lstStyle/>
                    <a:p>
                      <a:pPr>
                        <a:buNone/>
                      </a:pPr>
                      <a:r>
                        <a:rPr lang="en-US"/>
                        <a:t>Building components</a:t>
                      </a:r>
                    </a:p>
                  </a:txBody>
                  <a:tcPr/>
                </a:tc>
                <a:extLst>
                  <a:ext uri="{0D108BD9-81ED-4DB2-BD59-A6C34878D82A}">
                    <a16:rowId xmlns:a16="http://schemas.microsoft.com/office/drawing/2014/main" val="10002"/>
                  </a:ext>
                </a:extLst>
              </a:tr>
              <a:tr h="523875">
                <a:tc>
                  <a:txBody>
                    <a:bodyPr/>
                    <a:lstStyle/>
                    <a:p>
                      <a:pPr>
                        <a:buNone/>
                      </a:pPr>
                      <a:r>
                        <a:rPr lang="en-US"/>
                        <a:t>Loosely typed</a:t>
                      </a:r>
                    </a:p>
                  </a:txBody>
                  <a:tcPr/>
                </a:tc>
                <a:tc>
                  <a:txBody>
                    <a:bodyPr/>
                    <a:lstStyle/>
                    <a:p>
                      <a:pPr>
                        <a:buNone/>
                      </a:pPr>
                      <a:r>
                        <a:rPr lang="en-US"/>
                        <a:t>Strongly typed</a:t>
                      </a:r>
                    </a:p>
                  </a:txBody>
                  <a:tcPr/>
                </a:tc>
                <a:extLst>
                  <a:ext uri="{0D108BD9-81ED-4DB2-BD59-A6C34878D82A}">
                    <a16:rowId xmlns:a16="http://schemas.microsoft.com/office/drawing/2014/main" val="10003"/>
                  </a:ext>
                </a:extLst>
              </a:tr>
              <a:tr h="523875">
                <a:tc>
                  <a:txBody>
                    <a:bodyPr/>
                    <a:lstStyle/>
                    <a:p>
                      <a:pPr>
                        <a:buNone/>
                      </a:pPr>
                      <a:r>
                        <a:rPr lang="en-US"/>
                        <a:t>Intepreted</a:t>
                      </a:r>
                    </a:p>
                  </a:txBody>
                  <a:tcPr/>
                </a:tc>
                <a:tc>
                  <a:txBody>
                    <a:bodyPr/>
                    <a:lstStyle/>
                    <a:p>
                      <a:pPr>
                        <a:buNone/>
                      </a:pPr>
                      <a:r>
                        <a:rPr lang="en-US"/>
                        <a:t>Compiled</a:t>
                      </a:r>
                    </a:p>
                  </a:txBody>
                  <a:tcPr/>
                </a:tc>
                <a:extLst>
                  <a:ext uri="{0D108BD9-81ED-4DB2-BD59-A6C34878D82A}">
                    <a16:rowId xmlns:a16="http://schemas.microsoft.com/office/drawing/2014/main" val="10004"/>
                  </a:ext>
                </a:extLst>
              </a:tr>
              <a:tr h="523875">
                <a:tc>
                  <a:txBody>
                    <a:bodyPr/>
                    <a:lstStyle/>
                    <a:p>
                      <a:pPr>
                        <a:buNone/>
                      </a:pPr>
                      <a:r>
                        <a:rPr lang="en-US"/>
                        <a:t>Runs slower</a:t>
                      </a:r>
                    </a:p>
                  </a:txBody>
                  <a:tcPr/>
                </a:tc>
                <a:tc>
                  <a:txBody>
                    <a:bodyPr/>
                    <a:lstStyle/>
                    <a:p>
                      <a:pPr>
                        <a:buNone/>
                      </a:pPr>
                      <a:r>
                        <a:rPr lang="en-US"/>
                        <a:t>Runs faster</a:t>
                      </a:r>
                    </a:p>
                  </a:txBody>
                  <a:tcPr/>
                </a:tc>
                <a:extLst>
                  <a:ext uri="{0D108BD9-81ED-4DB2-BD59-A6C34878D82A}">
                    <a16:rowId xmlns:a16="http://schemas.microsoft.com/office/drawing/2014/main" val="10005"/>
                  </a:ext>
                </a:extLst>
              </a:tr>
              <a:tr h="523875">
                <a:tc>
                  <a:txBody>
                    <a:bodyPr/>
                    <a:lstStyle/>
                    <a:p>
                      <a:pPr>
                        <a:buNone/>
                      </a:pPr>
                      <a:r>
                        <a:rPr lang="en-US"/>
                        <a:t>Faster development</a:t>
                      </a:r>
                    </a:p>
                  </a:txBody>
                  <a:tcPr/>
                </a:tc>
                <a:tc>
                  <a:txBody>
                    <a:bodyPr/>
                    <a:lstStyle/>
                    <a:p>
                      <a:pPr>
                        <a:buNone/>
                      </a:pPr>
                      <a:r>
                        <a:rPr lang="en-US"/>
                        <a:t>Slower development</a:t>
                      </a:r>
                    </a:p>
                  </a:txBody>
                  <a:tcPr/>
                </a:tc>
                <a:extLst>
                  <a:ext uri="{0D108BD9-81ED-4DB2-BD59-A6C34878D82A}">
                    <a16:rowId xmlns:a16="http://schemas.microsoft.com/office/drawing/2014/main" val="10006"/>
                  </a:ext>
                </a:extLst>
              </a:tr>
              <a:tr h="523875">
                <a:tc>
                  <a:txBody>
                    <a:bodyPr/>
                    <a:lstStyle/>
                    <a:p>
                      <a:pPr>
                        <a:buNone/>
                      </a:pPr>
                      <a:r>
                        <a:rPr lang="en-US"/>
                        <a:t>Dynamic code</a:t>
                      </a:r>
                    </a:p>
                  </a:txBody>
                  <a:tcPr/>
                </a:tc>
                <a:tc>
                  <a:txBody>
                    <a:bodyPr/>
                    <a:lstStyle/>
                    <a:p>
                      <a:pPr>
                        <a:buNone/>
                      </a:pPr>
                      <a:r>
                        <a:rPr lang="en-US"/>
                        <a:t>Static code</a:t>
                      </a:r>
                    </a:p>
                  </a:txBody>
                  <a:tcPr/>
                </a:tc>
                <a:extLst>
                  <a:ext uri="{0D108BD9-81ED-4DB2-BD59-A6C34878D82A}">
                    <a16:rowId xmlns:a16="http://schemas.microsoft.com/office/drawing/2014/main" val="10007"/>
                  </a:ext>
                </a:extLst>
              </a:tr>
              <a:tr h="523875">
                <a:tc>
                  <a:txBody>
                    <a:bodyPr/>
                    <a:lstStyle/>
                    <a:p>
                      <a:pPr>
                        <a:buNone/>
                      </a:pPr>
                      <a:r>
                        <a:rPr lang="en-US"/>
                        <a:t>Smaller code size</a:t>
                      </a:r>
                    </a:p>
                  </a:txBody>
                  <a:tcPr/>
                </a:tc>
                <a:tc>
                  <a:txBody>
                    <a:bodyPr/>
                    <a:lstStyle/>
                    <a:p>
                      <a:pPr>
                        <a:buNone/>
                      </a:pPr>
                      <a:r>
                        <a:rPr lang="en-US"/>
                        <a:t>Larger code size</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Scripting Languages vs System Languages</a:t>
            </a:r>
            <a:endParaRPr lang="en-US"/>
          </a:p>
        </p:txBody>
      </p:sp>
      <p:pic>
        <p:nvPicPr>
          <p:cNvPr id="4" name="Content Placeholder 3"/>
          <p:cNvPicPr>
            <a:picLocks noGrp="1" noChangeAspect="1"/>
          </p:cNvPicPr>
          <p:nvPr>
            <p:ph idx="1"/>
          </p:nvPr>
        </p:nvPicPr>
        <p:blipFill>
          <a:blip r:embed="rId2"/>
          <a:stretch>
            <a:fillRect/>
          </a:stretch>
        </p:blipFill>
        <p:spPr>
          <a:xfrm>
            <a:off x="2150745" y="1047750"/>
            <a:ext cx="6768465" cy="5421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514350" indent="-514350">
              <a:buFont typeface="+mj-lt"/>
              <a:buAutoNum type="arabicPeriod"/>
            </a:pPr>
            <a:r>
              <a:rPr lang="en-US"/>
              <a:t>Both Batch and Interactive use</a:t>
            </a:r>
          </a:p>
          <a:p>
            <a:pPr marL="514350" indent="-514350">
              <a:buFont typeface="+mj-lt"/>
              <a:buAutoNum type="arabicPeriod"/>
            </a:pPr>
            <a:r>
              <a:rPr lang="en-US"/>
              <a:t>Economy of expression</a:t>
            </a:r>
          </a:p>
          <a:p>
            <a:pPr marL="514350" indent="-514350">
              <a:buFont typeface="+mj-lt"/>
              <a:buAutoNum type="arabicPeriod"/>
            </a:pPr>
            <a:r>
              <a:rPr lang="en-US"/>
              <a:t>Lack of declarations; simple scoping rules</a:t>
            </a:r>
          </a:p>
          <a:p>
            <a:pPr marL="514350" indent="-514350">
              <a:buFont typeface="+mj-lt"/>
              <a:buAutoNum type="arabicPeriod"/>
            </a:pPr>
            <a:r>
              <a:rPr lang="en-US"/>
              <a:t>Flexible dynamic typing</a:t>
            </a:r>
          </a:p>
          <a:p>
            <a:pPr marL="514350" indent="-514350">
              <a:buFont typeface="+mj-lt"/>
              <a:buAutoNum type="arabicPeriod"/>
            </a:pPr>
            <a:r>
              <a:rPr lang="en-US"/>
              <a:t>Easy access to other programs</a:t>
            </a:r>
          </a:p>
          <a:p>
            <a:pPr marL="514350" indent="-514350">
              <a:buFont typeface="+mj-lt"/>
              <a:buAutoNum type="arabicPeriod"/>
            </a:pPr>
            <a:r>
              <a:rPr lang="en-US"/>
              <a:t>Sophisticated pattern matching</a:t>
            </a:r>
          </a:p>
          <a:p>
            <a:pPr marL="514350" indent="-514350">
              <a:buFont typeface="+mj-lt"/>
              <a:buAutoNum type="arabicPeriod"/>
            </a:pPr>
            <a:r>
              <a:rPr lang="en-US"/>
              <a:t>High-level data types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514350" indent="-514350">
              <a:buAutoNum type="arabicPeriod"/>
            </a:pPr>
            <a:r>
              <a:rPr lang="en-US"/>
              <a:t>Batch and Interactive Use</a:t>
            </a:r>
          </a:p>
          <a:p>
            <a:pPr marL="0" indent="0">
              <a:buNone/>
            </a:pPr>
            <a:endParaRPr lang="en-US"/>
          </a:p>
          <a:p>
            <a:r>
              <a:rPr lang="en-US"/>
              <a:t>Perl has a JIT compiler that reads the entire program before execution</a:t>
            </a:r>
          </a:p>
          <a:p>
            <a:r>
              <a:rPr lang="en-US"/>
              <a:t>Other languages are quite happy to only execute a line as soon as it has been read</a:t>
            </a:r>
          </a:p>
          <a:p>
            <a:r>
              <a:rPr lang="en-US"/>
              <a:t>Python, TCL and Ruby will also accept commands from the keyboard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dirty="0"/>
              <a:t>2. Economy of Expression</a:t>
            </a:r>
          </a:p>
          <a:p>
            <a:pPr marL="0" indent="0">
              <a:buNone/>
            </a:pPr>
            <a:endParaRPr lang="en-US" dirty="0"/>
          </a:p>
          <a:p>
            <a:r>
              <a:rPr lang="en-US" sz="2400" dirty="0"/>
              <a:t>To support rapid development and interactive use, scripting languages require very little boilerplate code</a:t>
            </a:r>
          </a:p>
          <a:p>
            <a:r>
              <a:rPr lang="en-US" sz="2400" dirty="0"/>
              <a:t>This can be illustrated very clearly by the following example:</a:t>
            </a:r>
          </a:p>
          <a:p>
            <a:pPr marL="0" indent="0">
              <a:buNone/>
            </a:pPr>
            <a:r>
              <a:rPr lang="en-US" sz="2000" dirty="0"/>
              <a:t>public static void main(String </a:t>
            </a:r>
            <a:r>
              <a:rPr lang="en-US" sz="2000" dirty="0" err="1"/>
              <a:t>args</a:t>
            </a:r>
            <a:r>
              <a:rPr lang="en-US" sz="2000" dirty="0"/>
              <a:t>[])</a:t>
            </a:r>
          </a:p>
          <a:p>
            <a:pPr marL="0" indent="0">
              <a:buNone/>
            </a:pPr>
            <a:r>
              <a:rPr lang="en-US" sz="2000" dirty="0"/>
              <a:t>{</a:t>
            </a:r>
          </a:p>
          <a:p>
            <a:pPr marL="0" indent="457200">
              <a:buNone/>
            </a:pPr>
            <a:r>
              <a:rPr lang="en-US" sz="2000" dirty="0" err="1"/>
              <a:t>System.out.println</a:t>
            </a:r>
            <a:r>
              <a:rPr lang="en-US" sz="2000" dirty="0"/>
              <a:t>(“Hello!”);</a:t>
            </a:r>
          </a:p>
          <a:p>
            <a:pPr marL="0" indent="0">
              <a:buNone/>
            </a:pPr>
            <a:r>
              <a:rPr lang="en-US" sz="2000" dirty="0"/>
              <a:t>}</a:t>
            </a:r>
          </a:p>
          <a:p>
            <a:pPr marL="0" indent="0">
              <a:buNone/>
            </a:pPr>
            <a:r>
              <a:rPr lang="en-US" sz="2000" dirty="0"/>
              <a:t>print “Hello!/n”</a:t>
            </a:r>
          </a:p>
          <a:p>
            <a:r>
              <a:rPr lang="en-US" sz="2400" dirty="0"/>
              <a:t>Another example is reading a file word by word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a:t>3. </a:t>
            </a:r>
            <a:r>
              <a:rPr lang="en-US">
                <a:sym typeface="+mn-ea"/>
              </a:rPr>
              <a:t>Lack of declarations and simple scoping rules</a:t>
            </a:r>
          </a:p>
          <a:p>
            <a:pPr marL="0" indent="0">
              <a:buNone/>
            </a:pPr>
            <a:endParaRPr lang="en-US"/>
          </a:p>
          <a:p>
            <a:r>
              <a:rPr lang="en-US" sz="2400"/>
              <a:t>Most scripting languages dispense with declarations</a:t>
            </a:r>
          </a:p>
          <a:p>
            <a:r>
              <a:rPr lang="en-US" sz="2400"/>
              <a:t>They also use simple rules to govern the scopes of names (identifiers)</a:t>
            </a:r>
          </a:p>
          <a:p>
            <a:r>
              <a:rPr lang="en-US" sz="2400"/>
              <a:t>In Perl, every name is global by default</a:t>
            </a:r>
          </a:p>
          <a:p>
            <a:r>
              <a:rPr lang="en-US" sz="2400"/>
              <a:t>In Tcl and PHP, everything is local by default</a:t>
            </a:r>
          </a:p>
          <a:p>
            <a:r>
              <a:rPr lang="en-US" sz="2400"/>
              <a:t>Python has a unique implementation in that any variable that is assigned a value is local to the block in which the assignment appears</a:t>
            </a:r>
          </a:p>
          <a:p>
            <a:r>
              <a:rPr lang="en-US" sz="2400"/>
              <a:t>Special syntax is required to access the variable from a surrounding scope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a:t>4. </a:t>
            </a:r>
            <a:r>
              <a:rPr lang="en-US">
                <a:sym typeface="+mn-ea"/>
              </a:rPr>
              <a:t>Flexible dynamic typing</a:t>
            </a:r>
          </a:p>
          <a:p>
            <a:pPr marL="0" indent="0">
              <a:buNone/>
            </a:pPr>
            <a:endParaRPr lang="en-US"/>
          </a:p>
          <a:p>
            <a:r>
              <a:rPr lang="en-US" sz="2400"/>
              <a:t>Most scripting languages are dynamically typed.</a:t>
            </a:r>
          </a:p>
          <a:p>
            <a:r>
              <a:rPr lang="en-US" sz="2400"/>
              <a:t>In PHP, Ruby, Python, the type of a variable is checked immediately prior to use</a:t>
            </a:r>
          </a:p>
          <a:p>
            <a:r>
              <a:rPr lang="en-US" sz="2400"/>
              <a:t>In others such as Tcl and Perl, a variable can be interpreted differently in different contexts.</a:t>
            </a:r>
          </a:p>
          <a:p>
            <a:r>
              <a:rPr lang="en-US" sz="2400"/>
              <a:t>E.g.</a:t>
            </a:r>
          </a:p>
          <a:p>
            <a:pPr marL="457200" lvl="1" indent="0">
              <a:buNone/>
            </a:pPr>
            <a:r>
              <a:rPr lang="en-US" sz="2100"/>
              <a:t>$a = “4”</a:t>
            </a:r>
          </a:p>
          <a:p>
            <a:pPr marL="457200" lvl="1" indent="0">
              <a:buNone/>
            </a:pPr>
            <a:r>
              <a:rPr lang="en-US" sz="2100"/>
              <a:t>print $a. 3. “/n”</a:t>
            </a:r>
          </a:p>
          <a:p>
            <a:pPr marL="457200" lvl="1" indent="0">
              <a:buNone/>
            </a:pPr>
            <a:r>
              <a:rPr lang="en-US" sz="2100"/>
              <a:t>print $a + 4 . “/n”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dirty="0"/>
              <a:t>5. </a:t>
            </a:r>
            <a:r>
              <a:rPr lang="en-US" dirty="0">
                <a:sym typeface="+mn-ea"/>
              </a:rPr>
              <a:t>Easy access to other programs</a:t>
            </a:r>
          </a:p>
          <a:p>
            <a:pPr marL="0" indent="0">
              <a:buNone/>
            </a:pPr>
            <a:endParaRPr lang="en-US" dirty="0"/>
          </a:p>
          <a:p>
            <a:r>
              <a:rPr lang="en-US" sz="2400" dirty="0"/>
              <a:t>Most programming languages provide a way to interact with the underlying commands of the OS</a:t>
            </a:r>
          </a:p>
          <a:p>
            <a:r>
              <a:rPr lang="en-US" sz="2400" dirty="0"/>
              <a:t>However, this can be quite convoluted, as anyone who has had to do work with the </a:t>
            </a:r>
            <a:r>
              <a:rPr lang="en-US" sz="2400" dirty="0" err="1"/>
              <a:t>Runtime.exec</a:t>
            </a:r>
            <a:r>
              <a:rPr lang="en-US" sz="2400" dirty="0"/>
              <a:t> command knows</a:t>
            </a:r>
          </a:p>
          <a:p>
            <a:r>
              <a:rPr lang="en-US" sz="2400" dirty="0"/>
              <a:t>Scripting languages support these OS commands and their outputs much more cleanly and directly</a:t>
            </a:r>
          </a:p>
          <a:p>
            <a:r>
              <a:rPr lang="en-US" sz="2400" dirty="0"/>
              <a:t>Perl outputs 100 built-in commands for the OS while the </a:t>
            </a:r>
            <a:r>
              <a:rPr lang="en-US" sz="2400" dirty="0" err="1"/>
              <a:t>os</a:t>
            </a:r>
            <a:r>
              <a:rPr lang="en-US" sz="2400" dirty="0"/>
              <a:t> </a:t>
            </a:r>
            <a:r>
              <a:rPr lang="en-US" sz="2400" dirty="0" err="1"/>
              <a:t>mdoule</a:t>
            </a:r>
            <a:r>
              <a:rPr lang="en-US" sz="2400" dirty="0"/>
              <a:t> in Python is an excellent library for executing commands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dirty="0"/>
              <a:t>6. </a:t>
            </a:r>
            <a:r>
              <a:rPr lang="en-US" dirty="0">
                <a:sym typeface="+mn-ea"/>
              </a:rPr>
              <a:t>Sophisticated pattern matching</a:t>
            </a:r>
          </a:p>
          <a:p>
            <a:pPr marL="0" indent="0">
              <a:buNone/>
            </a:pPr>
            <a:endParaRPr lang="en-US" dirty="0"/>
          </a:p>
          <a:p>
            <a:r>
              <a:rPr lang="en-US" sz="2400" dirty="0"/>
              <a:t>As scripting language ancestors were used for text processing, the support for pattern matching in text files is impressive</a:t>
            </a:r>
          </a:p>
          <a:p>
            <a:r>
              <a:rPr lang="en-US" sz="2400" dirty="0"/>
              <a:t>Scripting languages have very good facilities for pattern matching, searching and string manipulation</a:t>
            </a:r>
          </a:p>
          <a:p>
            <a:r>
              <a:rPr lang="en-US" sz="2400" dirty="0"/>
              <a:t>This is all based upon the notion of extended regular expressions</a:t>
            </a:r>
          </a:p>
          <a:p>
            <a:r>
              <a:rPr lang="en-US" sz="2400" dirty="0"/>
              <a:t>sed is a powerful scripting language for text processing.</a:t>
            </a:r>
          </a:p>
          <a:p>
            <a:r>
              <a:rPr lang="en-US" sz="2400" dirty="0"/>
              <a:t>What does sed ‘1!G;h;$!d’ do?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Common Characteristics of Scripting Languages</a:t>
            </a:r>
            <a:endParaRPr lang="en-US"/>
          </a:p>
        </p:txBody>
      </p:sp>
      <p:sp>
        <p:nvSpPr>
          <p:cNvPr id="3" name="Content Placeholder 2"/>
          <p:cNvSpPr>
            <a:spLocks noGrp="1"/>
          </p:cNvSpPr>
          <p:nvPr>
            <p:ph idx="1"/>
          </p:nvPr>
        </p:nvSpPr>
        <p:spPr/>
        <p:txBody>
          <a:bodyPr/>
          <a:lstStyle/>
          <a:p>
            <a:pPr marL="0" indent="0">
              <a:buNone/>
            </a:pPr>
            <a:r>
              <a:rPr lang="en-US" dirty="0"/>
              <a:t>7. </a:t>
            </a:r>
            <a:r>
              <a:rPr lang="en-US" dirty="0">
                <a:sym typeface="+mn-ea"/>
              </a:rPr>
              <a:t>High-level data types</a:t>
            </a:r>
          </a:p>
          <a:p>
            <a:pPr marL="0" indent="0">
              <a:buNone/>
            </a:pPr>
            <a:endParaRPr lang="en-US" dirty="0"/>
          </a:p>
          <a:p>
            <a:r>
              <a:rPr lang="en-US" sz="2400" dirty="0"/>
              <a:t>High level data types such as sets, bags , dictionaries, list and tuples are some of the very convenient features provided by scripting languages</a:t>
            </a:r>
          </a:p>
          <a:p>
            <a:r>
              <a:rPr lang="en-US" sz="2400" dirty="0"/>
              <a:t>In C++, it is possible to use “operator overloading’ to create advanced user-defined types but scripting languages go one step further by building high-level types into the syntax and semantics</a:t>
            </a:r>
          </a:p>
          <a:p>
            <a:r>
              <a:rPr lang="en-US" sz="2400" dirty="0" err="1"/>
              <a:t>E.g</a:t>
            </a:r>
            <a:r>
              <a:rPr lang="en-US" sz="2400" dirty="0"/>
              <a:t> in Python, a dictionary can map a key to a value</a:t>
            </a:r>
          </a:p>
          <a:p>
            <a:endParaRPr lang="en-US" sz="2400" dirty="0"/>
          </a:p>
          <a:p>
            <a:pPr marL="457200" lvl="1" indent="0">
              <a:buNone/>
            </a:pPr>
            <a:r>
              <a:rPr lang="en-US" sz="2100" dirty="0" err="1"/>
              <a:t>dict</a:t>
            </a:r>
            <a:r>
              <a:rPr lang="en-US" sz="2100" dirty="0"/>
              <a:t>([(x, x**2) for x in (2,4,6)])</a:t>
            </a:r>
          </a:p>
          <a:p>
            <a:pPr marL="457200" lvl="1" indent="0">
              <a:buNone/>
            </a:pPr>
            <a:r>
              <a:rPr lang="en-US" sz="2100" dirty="0"/>
              <a:t>{2:4, 4:16, 6:36}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Scripting Languages</a:t>
            </a:r>
            <a:endParaRPr lang="en-US"/>
          </a:p>
        </p:txBody>
      </p:sp>
      <p:sp>
        <p:nvSpPr>
          <p:cNvPr id="3" name="Content Placeholder 2"/>
          <p:cNvSpPr>
            <a:spLocks noGrp="1"/>
          </p:cNvSpPr>
          <p:nvPr>
            <p:ph idx="1"/>
          </p:nvPr>
        </p:nvSpPr>
        <p:spPr>
          <a:xfrm>
            <a:off x="609600" y="1174750"/>
            <a:ext cx="10972800" cy="5302885"/>
          </a:xfrm>
        </p:spPr>
        <p:txBody>
          <a:bodyPr/>
          <a:lstStyle/>
          <a:p>
            <a:pPr>
              <a:lnSpc>
                <a:spcPts val="2990"/>
              </a:lnSpc>
              <a:spcBef>
                <a:spcPts val="90"/>
              </a:spcBef>
              <a:tabLst>
                <a:tab pos="354330" algn="l"/>
              </a:tabLst>
            </a:pPr>
            <a:r>
              <a:rPr sz="2400" spc="-55" dirty="0">
                <a:latin typeface="Arial" panose="020B0604020202020204" pitchFamily="34" charset="0"/>
                <a:cs typeface="Arial" panose="020B0604020202020204" pitchFamily="34" charset="0"/>
                <a:sym typeface="+mn-ea"/>
              </a:rPr>
              <a:t>Simple</a:t>
            </a:r>
            <a:r>
              <a:rPr sz="2400" spc="-95" dirty="0">
                <a:latin typeface="Arial" panose="020B0604020202020204" pitchFamily="34" charset="0"/>
                <a:cs typeface="Arial" panose="020B0604020202020204" pitchFamily="34" charset="0"/>
                <a:sym typeface="+mn-ea"/>
              </a:rPr>
              <a:t> </a:t>
            </a:r>
            <a:r>
              <a:rPr sz="2400" spc="-65" dirty="0">
                <a:latin typeface="Arial" panose="020B0604020202020204" pitchFamily="34" charset="0"/>
                <a:cs typeface="Arial" panose="020B0604020202020204" pitchFamily="34" charset="0"/>
                <a:sym typeface="+mn-ea"/>
              </a:rPr>
              <a:t>command/shell</a:t>
            </a:r>
            <a:r>
              <a:rPr sz="2400" spc="55" dirty="0">
                <a:latin typeface="Arial" panose="020B0604020202020204" pitchFamily="34" charset="0"/>
                <a:cs typeface="Arial" panose="020B0604020202020204" pitchFamily="34" charset="0"/>
                <a:sym typeface="+mn-ea"/>
              </a:rPr>
              <a:t> </a:t>
            </a:r>
            <a:r>
              <a:rPr sz="2400" spc="-50" dirty="0">
                <a:latin typeface="Arial" panose="020B0604020202020204" pitchFamily="34" charset="0"/>
                <a:cs typeface="Arial" panose="020B0604020202020204" pitchFamily="34" charset="0"/>
                <a:sym typeface="+mn-ea"/>
              </a:rPr>
              <a:t>scripting,</a:t>
            </a:r>
            <a:r>
              <a:rPr sz="2400" spc="-15" dirty="0">
                <a:latin typeface="Arial" panose="020B0604020202020204" pitchFamily="34" charset="0"/>
                <a:cs typeface="Arial" panose="020B0604020202020204" pitchFamily="34" charset="0"/>
                <a:sym typeface="+mn-ea"/>
              </a:rPr>
              <a:t> </a:t>
            </a:r>
            <a:r>
              <a:rPr sz="2400" spc="-35" dirty="0">
                <a:latin typeface="Arial" panose="020B0604020202020204" pitchFamily="34" charset="0"/>
                <a:cs typeface="Arial" panose="020B0604020202020204" pitchFamily="34" charset="0"/>
                <a:sym typeface="+mn-ea"/>
              </a:rPr>
              <a:t>level</a:t>
            </a:r>
            <a:r>
              <a:rPr sz="2400" spc="-7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1,</a:t>
            </a:r>
            <a:r>
              <a:rPr sz="2400" spc="-15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is</a:t>
            </a:r>
            <a:r>
              <a:rPr sz="2400" spc="-175"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the</a:t>
            </a:r>
            <a:r>
              <a:rPr sz="2400" spc="-150"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simplest</a:t>
            </a:r>
            <a:r>
              <a:rPr lang="en-US" sz="2400" spc="-10"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form</a:t>
            </a:r>
            <a:r>
              <a:rPr sz="2400" spc="-60"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of</a:t>
            </a:r>
            <a:r>
              <a:rPr sz="2400" spc="-30"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scripting</a:t>
            </a:r>
          </a:p>
          <a:p>
            <a:pPr marL="0" indent="0">
              <a:lnSpc>
                <a:spcPts val="2990"/>
              </a:lnSpc>
              <a:spcBef>
                <a:spcPts val="90"/>
              </a:spcBef>
              <a:buNone/>
              <a:tabLst>
                <a:tab pos="354330" algn="l"/>
              </a:tabLst>
            </a:pPr>
            <a:endParaRPr sz="2400">
              <a:latin typeface="Arial" panose="020B0604020202020204" pitchFamily="34" charset="0"/>
              <a:cs typeface="Arial" panose="020B0604020202020204" pitchFamily="34" charset="0"/>
            </a:endParaRPr>
          </a:p>
          <a:p>
            <a:pPr>
              <a:lnSpc>
                <a:spcPct val="100000"/>
              </a:lnSpc>
              <a:spcBef>
                <a:spcPts val="465"/>
              </a:spcBef>
              <a:tabLst>
                <a:tab pos="356870" algn="l"/>
              </a:tabLst>
            </a:pPr>
            <a:r>
              <a:rPr sz="2400" spc="-60" dirty="0">
                <a:latin typeface="Arial" panose="020B0604020202020204" pitchFamily="34" charset="0"/>
                <a:cs typeface="Arial" panose="020B0604020202020204" pitchFamily="34" charset="0"/>
                <a:sym typeface="+mn-ea"/>
              </a:rPr>
              <a:t>Intended</a:t>
            </a:r>
            <a:r>
              <a:rPr sz="2400" spc="-70"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to</a:t>
            </a:r>
            <a:r>
              <a:rPr sz="2400" spc="-175" dirty="0">
                <a:latin typeface="Arial" panose="020B0604020202020204" pitchFamily="34" charset="0"/>
                <a:cs typeface="Arial" panose="020B0604020202020204" pitchFamily="34" charset="0"/>
                <a:sym typeface="+mn-ea"/>
              </a:rPr>
              <a:t> </a:t>
            </a:r>
            <a:r>
              <a:rPr sz="2400" spc="-50" dirty="0">
                <a:latin typeface="Arial" panose="020B0604020202020204" pitchFamily="34" charset="0"/>
                <a:cs typeface="Arial" panose="020B0604020202020204" pitchFamily="34" charset="0"/>
                <a:sym typeface="+mn-ea"/>
              </a:rPr>
              <a:t>provide</a:t>
            </a:r>
            <a:r>
              <a:rPr sz="2400" spc="-10" dirty="0">
                <a:latin typeface="Arial" panose="020B0604020202020204" pitchFamily="34" charset="0"/>
                <a:cs typeface="Arial" panose="020B0604020202020204" pitchFamily="34" charset="0"/>
                <a:sym typeface="+mn-ea"/>
              </a:rPr>
              <a:t> </a:t>
            </a:r>
            <a:r>
              <a:rPr sz="2400" dirty="0">
                <a:latin typeface="Arial" panose="020B0604020202020204" pitchFamily="34" charset="0"/>
                <a:cs typeface="Arial" panose="020B0604020202020204" pitchFamily="34" charset="0"/>
                <a:sym typeface="+mn-ea"/>
              </a:rPr>
              <a:t>a</a:t>
            </a:r>
            <a:r>
              <a:rPr sz="2400" spc="-175" dirty="0">
                <a:latin typeface="Arial" panose="020B0604020202020204" pitchFamily="34" charset="0"/>
                <a:cs typeface="Arial" panose="020B0604020202020204" pitchFamily="34" charset="0"/>
                <a:sym typeface="+mn-ea"/>
              </a:rPr>
              <a:t> </a:t>
            </a:r>
            <a:r>
              <a:rPr sz="2400" spc="-35" dirty="0">
                <a:latin typeface="Arial" panose="020B0604020202020204" pitchFamily="34" charset="0"/>
                <a:cs typeface="Arial" panose="020B0604020202020204" pitchFamily="34" charset="0"/>
                <a:sym typeface="+mn-ea"/>
              </a:rPr>
              <a:t>“batch”</a:t>
            </a:r>
            <a:r>
              <a:rPr sz="2400" spc="-90" dirty="0">
                <a:latin typeface="Arial" panose="020B0604020202020204" pitchFamily="34" charset="0"/>
                <a:cs typeface="Arial" panose="020B0604020202020204" pitchFamily="34" charset="0"/>
                <a:sym typeface="+mn-ea"/>
              </a:rPr>
              <a:t> </a:t>
            </a:r>
            <a:r>
              <a:rPr sz="2400" spc="-60" dirty="0">
                <a:latin typeface="Arial" panose="020B0604020202020204" pitchFamily="34" charset="0"/>
                <a:cs typeface="Arial" panose="020B0604020202020204" pitchFamily="34" charset="0"/>
                <a:sym typeface="+mn-ea"/>
              </a:rPr>
              <a:t>execution</a:t>
            </a:r>
            <a:r>
              <a:rPr sz="2400" spc="-35" dirty="0">
                <a:latin typeface="Arial" panose="020B0604020202020204" pitchFamily="34" charset="0"/>
                <a:cs typeface="Arial" panose="020B0604020202020204" pitchFamily="34" charset="0"/>
                <a:sym typeface="+mn-ea"/>
              </a:rPr>
              <a:t> </a:t>
            </a:r>
            <a:r>
              <a:rPr sz="2400" spc="-10" dirty="0">
                <a:latin typeface="Arial" panose="020B0604020202020204" pitchFamily="34" charset="0"/>
                <a:cs typeface="Arial" panose="020B0604020202020204" pitchFamily="34" charset="0"/>
                <a:sym typeface="+mn-ea"/>
              </a:rPr>
              <a:t>capability</a:t>
            </a:r>
          </a:p>
          <a:p>
            <a:pPr marL="0" indent="0">
              <a:lnSpc>
                <a:spcPct val="100000"/>
              </a:lnSpc>
              <a:spcBef>
                <a:spcPts val="465"/>
              </a:spcBef>
              <a:buNone/>
              <a:tabLst>
                <a:tab pos="356870" algn="l"/>
              </a:tabLst>
            </a:pPr>
            <a:endParaRPr sz="2400">
              <a:latin typeface="Arial" panose="020B0604020202020204" pitchFamily="34" charset="0"/>
              <a:cs typeface="Arial" panose="020B0604020202020204" pitchFamily="34" charset="0"/>
            </a:endParaRPr>
          </a:p>
          <a:p>
            <a:pPr>
              <a:lnSpc>
                <a:spcPct val="100000"/>
              </a:lnSpc>
              <a:spcBef>
                <a:spcPts val="480"/>
              </a:spcBef>
              <a:tabLst>
                <a:tab pos="352425" algn="l"/>
              </a:tabLst>
            </a:pPr>
            <a:r>
              <a:rPr sz="2400" spc="-10" dirty="0">
                <a:latin typeface="Arial" panose="020B0604020202020204" pitchFamily="34" charset="0"/>
                <a:cs typeface="Arial" panose="020B0604020202020204" pitchFamily="34" charset="0"/>
                <a:sym typeface="+mn-ea"/>
              </a:rPr>
              <a:t>Unix/Linux</a:t>
            </a:r>
            <a:endParaRPr sz="2400">
              <a:latin typeface="Arial" panose="020B0604020202020204" pitchFamily="34" charset="0"/>
              <a:cs typeface="Arial" panose="020B0604020202020204" pitchFamily="34" charset="0"/>
            </a:endParaRPr>
          </a:p>
          <a:p>
            <a:pPr>
              <a:lnSpc>
                <a:spcPct val="100000"/>
              </a:lnSpc>
              <a:spcBef>
                <a:spcPts val="455"/>
              </a:spcBef>
              <a:tabLst>
                <a:tab pos="753745" algn="l"/>
              </a:tabLst>
            </a:pPr>
            <a:r>
              <a:rPr sz="2000" spc="-50" dirty="0">
                <a:solidFill>
                  <a:srgbClr val="7C7C7C"/>
                </a:solidFill>
                <a:latin typeface="Arial" panose="020B0604020202020204" pitchFamily="34" charset="0"/>
                <a:cs typeface="Arial" panose="020B0604020202020204" pitchFamily="34" charset="0"/>
                <a:sym typeface="+mn-ea"/>
              </a:rPr>
              <a:t>+</a:t>
            </a:r>
            <a:r>
              <a:rPr lang="en-US" sz="2000" spc="-50" dirty="0">
                <a:solidFill>
                  <a:srgbClr val="7C7C7C"/>
                </a:solidFill>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bash,</a:t>
            </a:r>
            <a:r>
              <a:rPr sz="2000" spc="-6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ksh</a:t>
            </a:r>
            <a:r>
              <a:rPr sz="2000" spc="-6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(Korn</a:t>
            </a:r>
            <a:r>
              <a:rPr sz="2000" spc="4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shell),</a:t>
            </a:r>
            <a:r>
              <a:rPr sz="2000" spc="2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sh</a:t>
            </a:r>
            <a:r>
              <a:rPr sz="2000" spc="-7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(Bourne</a:t>
            </a:r>
            <a:r>
              <a:rPr sz="2000" spc="35" dirty="0">
                <a:latin typeface="Arial" panose="020B0604020202020204" pitchFamily="34" charset="0"/>
                <a:cs typeface="Arial" panose="020B0604020202020204" pitchFamily="34" charset="0"/>
                <a:sym typeface="+mn-ea"/>
              </a:rPr>
              <a:t> </a:t>
            </a:r>
            <a:r>
              <a:rPr sz="2000" spc="-10" dirty="0">
                <a:latin typeface="Arial" panose="020B0604020202020204" pitchFamily="34" charset="0"/>
                <a:cs typeface="Arial" panose="020B0604020202020204" pitchFamily="34" charset="0"/>
                <a:sym typeface="+mn-ea"/>
              </a:rPr>
              <a:t>shell)</a:t>
            </a:r>
            <a:endParaRPr sz="2000">
              <a:latin typeface="Arial" panose="020B0604020202020204" pitchFamily="34" charset="0"/>
              <a:cs typeface="Arial" panose="020B0604020202020204" pitchFamily="34" charset="0"/>
            </a:endParaRPr>
          </a:p>
          <a:p>
            <a:pPr>
              <a:lnSpc>
                <a:spcPct val="100000"/>
              </a:lnSpc>
              <a:spcBef>
                <a:spcPts val="415"/>
              </a:spcBef>
            </a:pPr>
            <a:r>
              <a:rPr sz="2000" dirty="0">
                <a:solidFill>
                  <a:srgbClr val="808080"/>
                </a:solidFill>
                <a:latin typeface="Arial" panose="020B0604020202020204" pitchFamily="34" charset="0"/>
                <a:cs typeface="Arial" panose="020B0604020202020204" pitchFamily="34" charset="0"/>
                <a:sym typeface="+mn-ea"/>
              </a:rPr>
              <a:t>+</a:t>
            </a:r>
            <a:r>
              <a:rPr sz="2000" spc="185" dirty="0">
                <a:solidFill>
                  <a:srgbClr val="808080"/>
                </a:solidFill>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csh</a:t>
            </a:r>
            <a:r>
              <a:rPr sz="2000" spc="-65" dirty="0">
                <a:latin typeface="Arial" panose="020B0604020202020204" pitchFamily="34" charset="0"/>
                <a:cs typeface="Arial" panose="020B0604020202020204" pitchFamily="34" charset="0"/>
                <a:sym typeface="+mn-ea"/>
              </a:rPr>
              <a:t> </a:t>
            </a:r>
            <a:r>
              <a:rPr sz="2000" spc="-10" dirty="0">
                <a:latin typeface="Arial" panose="020B0604020202020204" pitchFamily="34" charset="0"/>
                <a:cs typeface="Arial" panose="020B0604020202020204" pitchFamily="34" charset="0"/>
                <a:sym typeface="+mn-ea"/>
              </a:rPr>
              <a:t>(C</a:t>
            </a:r>
            <a:r>
              <a:rPr sz="2000" spc="-35" dirty="0">
                <a:latin typeface="Arial" panose="020B0604020202020204" pitchFamily="34" charset="0"/>
                <a:cs typeface="Arial" panose="020B0604020202020204" pitchFamily="34" charset="0"/>
                <a:sym typeface="+mn-ea"/>
              </a:rPr>
              <a:t> </a:t>
            </a:r>
            <a:r>
              <a:rPr sz="2000" spc="-40" dirty="0">
                <a:latin typeface="Arial" panose="020B0604020202020204" pitchFamily="34" charset="0"/>
                <a:cs typeface="Arial" panose="020B0604020202020204" pitchFamily="34" charset="0"/>
                <a:sym typeface="+mn-ea"/>
              </a:rPr>
              <a:t>shell),</a:t>
            </a:r>
            <a:r>
              <a:rPr sz="2000" spc="-65"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tsch</a:t>
            </a:r>
            <a:endParaRPr sz="2000">
              <a:latin typeface="Arial" panose="020B0604020202020204" pitchFamily="34" charset="0"/>
              <a:cs typeface="Arial" panose="020B0604020202020204" pitchFamily="34" charset="0"/>
            </a:endParaRPr>
          </a:p>
          <a:p>
            <a:pPr>
              <a:lnSpc>
                <a:spcPct val="100000"/>
              </a:lnSpc>
              <a:spcBef>
                <a:spcPts val="380"/>
              </a:spcBef>
              <a:tabLst>
                <a:tab pos="755015" algn="l"/>
              </a:tabLst>
            </a:pPr>
            <a:r>
              <a:rPr sz="2000" spc="-50" dirty="0">
                <a:solidFill>
                  <a:srgbClr val="757575"/>
                </a:solidFill>
                <a:latin typeface="Arial" panose="020B0604020202020204" pitchFamily="34" charset="0"/>
                <a:cs typeface="Arial" panose="020B0604020202020204" pitchFamily="34" charset="0"/>
                <a:sym typeface="+mn-ea"/>
              </a:rPr>
              <a:t>+</a:t>
            </a:r>
            <a:r>
              <a:rPr lang="en-US" sz="2000" spc="-50" dirty="0">
                <a:solidFill>
                  <a:srgbClr val="757575"/>
                </a:solidFill>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These</a:t>
            </a:r>
            <a:r>
              <a:rPr sz="2000" spc="-12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shells</a:t>
            </a:r>
            <a:r>
              <a:rPr sz="2000" spc="-7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can</a:t>
            </a:r>
            <a:r>
              <a:rPr sz="2000" spc="-8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work</a:t>
            </a:r>
            <a:r>
              <a:rPr sz="2000" spc="-80"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interactively </a:t>
            </a:r>
            <a:r>
              <a:rPr sz="2000" dirty="0">
                <a:latin typeface="Arial" panose="020B0604020202020204" pitchFamily="34" charset="0"/>
                <a:cs typeface="Arial" panose="020B0604020202020204" pitchFamily="34" charset="0"/>
                <a:sym typeface="+mn-ea"/>
              </a:rPr>
              <a:t>or</a:t>
            </a:r>
            <a:r>
              <a:rPr sz="2000" spc="-8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in</a:t>
            </a:r>
            <a:r>
              <a:rPr sz="2000" spc="-105" dirty="0">
                <a:latin typeface="Arial" panose="020B0604020202020204" pitchFamily="34" charset="0"/>
                <a:cs typeface="Arial" panose="020B0604020202020204" pitchFamily="34" charset="0"/>
                <a:sym typeface="+mn-ea"/>
              </a:rPr>
              <a:t> </a:t>
            </a:r>
            <a:r>
              <a:rPr sz="2000" spc="-30" dirty="0">
                <a:latin typeface="Arial" panose="020B0604020202020204" pitchFamily="34" charset="0"/>
                <a:cs typeface="Arial" panose="020B0604020202020204" pitchFamily="34" charset="0"/>
                <a:sym typeface="+mn-ea"/>
              </a:rPr>
              <a:t>script</a:t>
            </a:r>
            <a:r>
              <a:rPr sz="2000" spc="-50"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mode</a:t>
            </a:r>
            <a:endParaRPr sz="2000">
              <a:latin typeface="Arial" panose="020B0604020202020204" pitchFamily="34" charset="0"/>
              <a:cs typeface="Arial" panose="020B0604020202020204" pitchFamily="34" charset="0"/>
            </a:endParaRPr>
          </a:p>
          <a:p>
            <a:pPr>
              <a:lnSpc>
                <a:spcPct val="100000"/>
              </a:lnSpc>
              <a:spcBef>
                <a:spcPts val="525"/>
              </a:spcBef>
              <a:tabLst>
                <a:tab pos="784225" algn="l"/>
              </a:tabLst>
            </a:pPr>
            <a:r>
              <a:rPr sz="2000" spc="-50" dirty="0">
                <a:solidFill>
                  <a:srgbClr val="747474"/>
                </a:solidFill>
                <a:latin typeface="Arial" panose="020B0604020202020204" pitchFamily="34" charset="0"/>
                <a:cs typeface="Arial" panose="020B0604020202020204" pitchFamily="34" charset="0"/>
                <a:sym typeface="+mn-ea"/>
              </a:rPr>
              <a:t>+</a:t>
            </a:r>
            <a:r>
              <a:rPr lang="en-US" sz="2000" spc="-50" dirty="0">
                <a:solidFill>
                  <a:srgbClr val="747474"/>
                </a:solidFill>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Have</a:t>
            </a:r>
            <a:r>
              <a:rPr sz="2000" spc="9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basic</a:t>
            </a:r>
            <a:r>
              <a:rPr sz="2000" spc="10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programming</a:t>
            </a:r>
            <a:r>
              <a:rPr sz="2000" spc="204"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constructs</a:t>
            </a:r>
            <a:r>
              <a:rPr sz="2000" spc="13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(if,</a:t>
            </a:r>
            <a:r>
              <a:rPr sz="2000" spc="35" dirty="0">
                <a:latin typeface="Arial" panose="020B0604020202020204" pitchFamily="34" charset="0"/>
                <a:cs typeface="Arial" panose="020B0604020202020204" pitchFamily="34" charset="0"/>
                <a:sym typeface="+mn-ea"/>
              </a:rPr>
              <a:t> </a:t>
            </a:r>
            <a:r>
              <a:rPr lang="en-US" sz="2000" spc="35" dirty="0">
                <a:latin typeface="Arial" panose="020B0604020202020204" pitchFamily="34" charset="0"/>
                <a:cs typeface="Arial" panose="020B0604020202020204" pitchFamily="34" charset="0"/>
                <a:sym typeface="+mn-ea"/>
              </a:rPr>
              <a:t>loops,...)</a:t>
            </a:r>
          </a:p>
          <a:p>
            <a:pPr marL="0" indent="0">
              <a:lnSpc>
                <a:spcPct val="100000"/>
              </a:lnSpc>
              <a:spcBef>
                <a:spcPts val="525"/>
              </a:spcBef>
              <a:buNone/>
              <a:tabLst>
                <a:tab pos="784225" algn="l"/>
              </a:tabLst>
            </a:pPr>
            <a:endParaRPr sz="2000" baseline="-6000">
              <a:latin typeface="Arial" panose="020B0604020202020204" pitchFamily="34" charset="0"/>
              <a:cs typeface="Arial" panose="020B0604020202020204" pitchFamily="34" charset="0"/>
            </a:endParaRPr>
          </a:p>
          <a:p>
            <a:pPr>
              <a:lnSpc>
                <a:spcPct val="100000"/>
              </a:lnSpc>
              <a:spcBef>
                <a:spcPts val="515"/>
              </a:spcBef>
              <a:tabLst>
                <a:tab pos="380365" algn="l"/>
              </a:tabLst>
            </a:pPr>
            <a:r>
              <a:rPr sz="2400" spc="-10" dirty="0">
                <a:latin typeface="Arial" panose="020B0604020202020204" pitchFamily="34" charset="0"/>
                <a:cs typeface="Arial" panose="020B0604020202020204" pitchFamily="34" charset="0"/>
                <a:sym typeface="+mn-ea"/>
              </a:rPr>
              <a:t>Windows</a:t>
            </a:r>
            <a:endParaRPr sz="2400">
              <a:latin typeface="Arial" panose="020B0604020202020204" pitchFamily="34" charset="0"/>
              <a:cs typeface="Arial" panose="020B0604020202020204" pitchFamily="34" charset="0"/>
            </a:endParaRPr>
          </a:p>
          <a:p>
            <a:pPr>
              <a:lnSpc>
                <a:spcPct val="100000"/>
              </a:lnSpc>
              <a:spcBef>
                <a:spcPts val="460"/>
              </a:spcBef>
            </a:pPr>
            <a:r>
              <a:rPr sz="2000" dirty="0">
                <a:solidFill>
                  <a:srgbClr val="7E7E7E"/>
                </a:solidFill>
                <a:latin typeface="Arial" panose="020B0604020202020204" pitchFamily="34" charset="0"/>
                <a:cs typeface="Arial" panose="020B0604020202020204" pitchFamily="34" charset="0"/>
                <a:sym typeface="+mn-ea"/>
              </a:rPr>
              <a:t>+</a:t>
            </a:r>
            <a:r>
              <a:rPr sz="2000" spc="220" dirty="0">
                <a:solidFill>
                  <a:srgbClr val="7E7E7E"/>
                </a:solidFill>
                <a:latin typeface="Arial" panose="020B0604020202020204" pitchFamily="34" charset="0"/>
                <a:cs typeface="Arial" panose="020B0604020202020204" pitchFamily="34" charset="0"/>
                <a:sym typeface="+mn-ea"/>
              </a:rPr>
              <a:t> </a:t>
            </a:r>
            <a:r>
              <a:rPr sz="2000" spc="-45" dirty="0">
                <a:latin typeface="Arial" panose="020B0604020202020204" pitchFamily="34" charset="0"/>
                <a:cs typeface="Arial" panose="020B0604020202020204" pitchFamily="34" charset="0"/>
                <a:sym typeface="+mn-ea"/>
              </a:rPr>
              <a:t>cmd/command</a:t>
            </a:r>
            <a:r>
              <a:rPr sz="2000" spc="100"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have</a:t>
            </a:r>
            <a:r>
              <a:rPr sz="2000" spc="-9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no</a:t>
            </a:r>
            <a:r>
              <a:rPr sz="2000" spc="-135" dirty="0">
                <a:latin typeface="Arial" panose="020B0604020202020204" pitchFamily="34" charset="0"/>
                <a:cs typeface="Arial" panose="020B0604020202020204" pitchFamily="34" charset="0"/>
                <a:sym typeface="+mn-ea"/>
              </a:rPr>
              <a:t> </a:t>
            </a:r>
            <a:r>
              <a:rPr sz="2000" spc="-30" dirty="0">
                <a:latin typeface="Arial" panose="020B0604020202020204" pitchFamily="34" charset="0"/>
                <a:cs typeface="Arial" panose="020B0604020202020204" pitchFamily="34" charset="0"/>
                <a:sym typeface="+mn-ea"/>
              </a:rPr>
              <a:t>programming</a:t>
            </a:r>
            <a:r>
              <a:rPr sz="2000" spc="65" dirty="0">
                <a:latin typeface="Arial" panose="020B0604020202020204" pitchFamily="34" charset="0"/>
                <a:cs typeface="Arial" panose="020B0604020202020204" pitchFamily="34" charset="0"/>
                <a:sym typeface="+mn-ea"/>
              </a:rPr>
              <a:t> </a:t>
            </a:r>
            <a:r>
              <a:rPr sz="2000" spc="-10" dirty="0">
                <a:latin typeface="Arial" panose="020B0604020202020204" pitchFamily="34" charset="0"/>
                <a:cs typeface="Arial" panose="020B0604020202020204" pitchFamily="34" charset="0"/>
                <a:sym typeface="+mn-ea"/>
              </a:rPr>
              <a:t>constructs</a:t>
            </a:r>
            <a:endParaRPr sz="2000">
              <a:latin typeface="Arial" panose="020B0604020202020204" pitchFamily="34" charset="0"/>
              <a:cs typeface="Arial" panose="020B0604020202020204" pitchFamily="34" charset="0"/>
            </a:endParaRPr>
          </a:p>
          <a:p>
            <a:pPr marR="43180">
              <a:lnSpc>
                <a:spcPts val="2430"/>
              </a:lnSpc>
              <a:spcBef>
                <a:spcPts val="530"/>
              </a:spcBef>
              <a:tabLst>
                <a:tab pos="782955" algn="l"/>
              </a:tabLst>
            </a:pPr>
            <a:r>
              <a:rPr sz="2000" spc="-50" dirty="0">
                <a:solidFill>
                  <a:srgbClr val="7B7B7B"/>
                </a:solidFill>
                <a:latin typeface="Arial" panose="020B0604020202020204" pitchFamily="34" charset="0"/>
                <a:cs typeface="Arial" panose="020B0604020202020204" pitchFamily="34" charset="0"/>
                <a:sym typeface="+mn-ea"/>
              </a:rPr>
              <a:t>+</a:t>
            </a:r>
            <a:r>
              <a:rPr lang="en-US" sz="2000" spc="-50" dirty="0">
                <a:solidFill>
                  <a:srgbClr val="7B7B7B"/>
                </a:solidFill>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Windows</a:t>
            </a:r>
            <a:r>
              <a:rPr sz="2000" spc="-130" dirty="0">
                <a:latin typeface="Arial" panose="020B0604020202020204" pitchFamily="34" charset="0"/>
                <a:cs typeface="Arial" panose="020B0604020202020204" pitchFamily="34" charset="0"/>
                <a:sym typeface="+mn-ea"/>
              </a:rPr>
              <a:t> </a:t>
            </a:r>
            <a:r>
              <a:rPr sz="2000" spc="-25" dirty="0">
                <a:latin typeface="Arial" panose="020B0604020202020204" pitchFamily="34" charset="0"/>
                <a:cs typeface="Arial" panose="020B0604020202020204" pitchFamily="34" charset="0"/>
                <a:sym typeface="+mn-ea"/>
              </a:rPr>
              <a:t>PowerShell</a:t>
            </a:r>
            <a:r>
              <a:rPr sz="2000" spc="-5" dirty="0">
                <a:latin typeface="Arial" panose="020B0604020202020204" pitchFamily="34" charset="0"/>
                <a:cs typeface="Arial" panose="020B0604020202020204" pitchFamily="34" charset="0"/>
                <a:sym typeface="+mn-ea"/>
              </a:rPr>
              <a:t> </a:t>
            </a:r>
            <a:r>
              <a:rPr sz="2000" spc="-30" dirty="0">
                <a:latin typeface="Arial" panose="020B0604020202020204" pitchFamily="34" charset="0"/>
                <a:cs typeface="Arial" panose="020B0604020202020204" pitchFamily="34" charset="0"/>
                <a:sym typeface="+mn-ea"/>
              </a:rPr>
              <a:t>(4Q2006)</a:t>
            </a:r>
            <a:r>
              <a:rPr sz="2000" spc="2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will</a:t>
            </a:r>
            <a:r>
              <a:rPr sz="2000" spc="-105"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have</a:t>
            </a:r>
            <a:r>
              <a:rPr sz="2000" spc="-125" dirty="0">
                <a:latin typeface="Arial" panose="020B0604020202020204" pitchFamily="34" charset="0"/>
                <a:cs typeface="Arial" panose="020B0604020202020204" pitchFamily="34" charset="0"/>
                <a:sym typeface="+mn-ea"/>
              </a:rPr>
              <a:t> </a:t>
            </a:r>
            <a:r>
              <a:rPr sz="2000" spc="-20" dirty="0">
                <a:latin typeface="Arial" panose="020B0604020202020204" pitchFamily="34" charset="0"/>
                <a:cs typeface="Arial" panose="020B0604020202020204" pitchFamily="34" charset="0"/>
                <a:sym typeface="+mn-ea"/>
              </a:rPr>
              <a:t>extensive</a:t>
            </a:r>
            <a:r>
              <a:rPr sz="2000" spc="-10" dirty="0">
                <a:latin typeface="Arial" panose="020B0604020202020204" pitchFamily="34" charset="0"/>
                <a:cs typeface="Arial" panose="020B0604020202020204" pitchFamily="34" charset="0"/>
                <a:sym typeface="+mn-ea"/>
              </a:rPr>
              <a:t> </a:t>
            </a:r>
            <a:r>
              <a:rPr sz="2000" spc="-25" dirty="0">
                <a:latin typeface="Arial" panose="020B0604020202020204" pitchFamily="34" charset="0"/>
                <a:cs typeface="Arial" panose="020B0604020202020204" pitchFamily="34" charset="0"/>
                <a:sym typeface="+mn-ea"/>
              </a:rPr>
              <a:t>scripting </a:t>
            </a:r>
            <a:r>
              <a:rPr sz="2000" dirty="0">
                <a:latin typeface="Arial" panose="020B0604020202020204" pitchFamily="34" charset="0"/>
                <a:cs typeface="Arial" panose="020B0604020202020204" pitchFamily="34" charset="0"/>
                <a:sym typeface="+mn-ea"/>
              </a:rPr>
              <a:t>based</a:t>
            </a:r>
            <a:r>
              <a:rPr sz="2000" spc="-80"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on</a:t>
            </a:r>
            <a:r>
              <a:rPr sz="2000" spc="-105" dirty="0">
                <a:latin typeface="Arial" panose="020B0604020202020204" pitchFamily="34" charset="0"/>
                <a:cs typeface="Arial" panose="020B0604020202020204" pitchFamily="34" charset="0"/>
                <a:sym typeface="+mn-ea"/>
              </a:rPr>
              <a:t> </a:t>
            </a:r>
            <a:r>
              <a:rPr sz="2000" dirty="0">
                <a:latin typeface="Arial" panose="020B0604020202020204" pitchFamily="34" charset="0"/>
                <a:cs typeface="Arial" panose="020B0604020202020204" pitchFamily="34" charset="0"/>
                <a:sym typeface="+mn-ea"/>
              </a:rPr>
              <a:t>C#</a:t>
            </a:r>
            <a:r>
              <a:rPr sz="2000" spc="-100" dirty="0">
                <a:latin typeface="Arial" panose="020B0604020202020204" pitchFamily="34" charset="0"/>
                <a:cs typeface="Arial" panose="020B0604020202020204" pitchFamily="34" charset="0"/>
                <a:sym typeface="+mn-ea"/>
              </a:rPr>
              <a:t> </a:t>
            </a:r>
            <a:r>
              <a:rPr sz="2000" spc="-10" dirty="0">
                <a:latin typeface="Arial" panose="020B0604020202020204" pitchFamily="34" charset="0"/>
                <a:cs typeface="Arial" panose="020B0604020202020204" pitchFamily="34" charset="0"/>
                <a:sym typeface="+mn-ea"/>
              </a:rPr>
              <a:t>language</a:t>
            </a:r>
            <a:endParaRPr sz="200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Scripting Languages</a:t>
            </a:r>
            <a:endParaRPr lang="en-US"/>
          </a:p>
        </p:txBody>
      </p:sp>
      <p:sp>
        <p:nvSpPr>
          <p:cNvPr id="3" name="Content Placeholder 2"/>
          <p:cNvSpPr>
            <a:spLocks noGrp="1"/>
          </p:cNvSpPr>
          <p:nvPr>
            <p:ph idx="1"/>
          </p:nvPr>
        </p:nvSpPr>
        <p:spPr>
          <a:xfrm>
            <a:off x="609600" y="1174750"/>
            <a:ext cx="10972800" cy="5382895"/>
          </a:xfrm>
        </p:spPr>
        <p:txBody>
          <a:bodyPr/>
          <a:lstStyle/>
          <a:p>
            <a:pPr marR="218440">
              <a:lnSpc>
                <a:spcPts val="2880"/>
              </a:lnSpc>
              <a:spcBef>
                <a:spcPts val="380"/>
              </a:spcBef>
              <a:tabLst>
                <a:tab pos="356870" algn="l"/>
              </a:tabLst>
            </a:pPr>
            <a:r>
              <a:rPr sz="2400" spc="-75" dirty="0">
                <a:latin typeface="Arial MT"/>
                <a:cs typeface="Arial MT"/>
                <a:sym typeface="+mn-ea"/>
              </a:rPr>
              <a:t>Limited</a:t>
            </a:r>
            <a:r>
              <a:rPr sz="2400" spc="-105" dirty="0">
                <a:latin typeface="Arial MT"/>
                <a:cs typeface="Arial MT"/>
                <a:sym typeface="+mn-ea"/>
              </a:rPr>
              <a:t> </a:t>
            </a:r>
            <a:r>
              <a:rPr sz="2400" spc="-65" dirty="0">
                <a:latin typeface="Arial MT"/>
                <a:cs typeface="Arial MT"/>
                <a:sym typeface="+mn-ea"/>
              </a:rPr>
              <a:t>scripting</a:t>
            </a:r>
            <a:r>
              <a:rPr sz="2400" spc="-85" dirty="0">
                <a:latin typeface="Arial MT"/>
                <a:cs typeface="Arial MT"/>
                <a:sym typeface="+mn-ea"/>
              </a:rPr>
              <a:t> </a:t>
            </a:r>
            <a:r>
              <a:rPr sz="2400" spc="-80" dirty="0">
                <a:latin typeface="Arial MT"/>
                <a:cs typeface="Arial MT"/>
                <a:sym typeface="+mn-ea"/>
              </a:rPr>
              <a:t>languages,</a:t>
            </a:r>
            <a:r>
              <a:rPr sz="2400" spc="25" dirty="0">
                <a:latin typeface="Arial MT"/>
                <a:cs typeface="Arial MT"/>
                <a:sym typeface="+mn-ea"/>
              </a:rPr>
              <a:t> </a:t>
            </a:r>
            <a:r>
              <a:rPr sz="2400" spc="-65" dirty="0">
                <a:latin typeface="Arial MT"/>
                <a:cs typeface="Arial MT"/>
                <a:sym typeface="+mn-ea"/>
              </a:rPr>
              <a:t>level</a:t>
            </a:r>
            <a:r>
              <a:rPr sz="2400" spc="-105" dirty="0">
                <a:latin typeface="Arial MT"/>
                <a:cs typeface="Arial MT"/>
                <a:sym typeface="+mn-ea"/>
              </a:rPr>
              <a:t> </a:t>
            </a:r>
            <a:r>
              <a:rPr sz="2400" spc="-30" dirty="0">
                <a:latin typeface="Arial MT"/>
                <a:cs typeface="Arial MT"/>
                <a:sym typeface="+mn-ea"/>
              </a:rPr>
              <a:t>2,</a:t>
            </a:r>
            <a:r>
              <a:rPr sz="2400" spc="-145" dirty="0">
                <a:latin typeface="Arial MT"/>
                <a:cs typeface="Arial MT"/>
                <a:sym typeface="+mn-ea"/>
              </a:rPr>
              <a:t> </a:t>
            </a:r>
            <a:r>
              <a:rPr sz="2400" spc="-70" dirty="0">
                <a:latin typeface="Arial MT"/>
                <a:cs typeface="Arial MT"/>
                <a:sym typeface="+mn-ea"/>
              </a:rPr>
              <a:t>have</a:t>
            </a:r>
            <a:r>
              <a:rPr sz="2400" spc="-45" dirty="0">
                <a:latin typeface="Arial MT"/>
                <a:cs typeface="Arial MT"/>
                <a:sym typeface="+mn-ea"/>
              </a:rPr>
              <a:t> </a:t>
            </a:r>
            <a:r>
              <a:rPr sz="2400" spc="-20" dirty="0">
                <a:latin typeface="Arial MT"/>
                <a:cs typeface="Arial MT"/>
                <a:sym typeface="+mn-ea"/>
              </a:rPr>
              <a:t>more 	</a:t>
            </a:r>
            <a:r>
              <a:rPr sz="2400" spc="-55" dirty="0">
                <a:latin typeface="Arial MT"/>
                <a:cs typeface="Arial MT"/>
                <a:sym typeface="+mn-ea"/>
              </a:rPr>
              <a:t>sophisticated</a:t>
            </a:r>
            <a:r>
              <a:rPr sz="2400" spc="-95" dirty="0">
                <a:latin typeface="Arial MT"/>
                <a:cs typeface="Arial MT"/>
                <a:sym typeface="+mn-ea"/>
              </a:rPr>
              <a:t> </a:t>
            </a:r>
            <a:r>
              <a:rPr sz="2400" spc="-60" dirty="0">
                <a:latin typeface="Arial MT"/>
                <a:cs typeface="Arial MT"/>
                <a:sym typeface="+mn-ea"/>
              </a:rPr>
              <a:t>language</a:t>
            </a:r>
            <a:r>
              <a:rPr sz="2400" spc="-25" dirty="0">
                <a:latin typeface="Arial MT"/>
                <a:cs typeface="Arial MT"/>
                <a:sym typeface="+mn-ea"/>
              </a:rPr>
              <a:t> </a:t>
            </a:r>
            <a:r>
              <a:rPr sz="2400" spc="-55" dirty="0">
                <a:latin typeface="Arial MT"/>
                <a:cs typeface="Arial MT"/>
                <a:sym typeface="+mn-ea"/>
              </a:rPr>
              <a:t>structure</a:t>
            </a:r>
            <a:r>
              <a:rPr sz="2400" spc="-65" dirty="0">
                <a:latin typeface="Arial MT"/>
                <a:cs typeface="Arial MT"/>
                <a:sym typeface="+mn-ea"/>
              </a:rPr>
              <a:t> </a:t>
            </a:r>
            <a:r>
              <a:rPr sz="2400" spc="-10" dirty="0">
                <a:latin typeface="Arial MT"/>
                <a:cs typeface="Arial MT"/>
                <a:sym typeface="+mn-ea"/>
              </a:rPr>
              <a:t>but</a:t>
            </a:r>
            <a:r>
              <a:rPr sz="2400" spc="-145" dirty="0">
                <a:latin typeface="Arial MT"/>
                <a:cs typeface="Arial MT"/>
                <a:sym typeface="+mn-ea"/>
              </a:rPr>
              <a:t> </a:t>
            </a:r>
            <a:r>
              <a:rPr sz="2400" spc="-10" dirty="0">
                <a:latin typeface="Arial MT"/>
                <a:cs typeface="Arial MT"/>
                <a:sym typeface="+mn-ea"/>
              </a:rPr>
              <a:t>are</a:t>
            </a:r>
            <a:r>
              <a:rPr sz="2400" spc="-114" dirty="0">
                <a:latin typeface="Arial MT"/>
                <a:cs typeface="Arial MT"/>
                <a:sym typeface="+mn-ea"/>
              </a:rPr>
              <a:t> </a:t>
            </a:r>
            <a:r>
              <a:rPr sz="2400" spc="-40" dirty="0">
                <a:latin typeface="Arial MT"/>
                <a:cs typeface="Arial MT"/>
                <a:sym typeface="+mn-ea"/>
              </a:rPr>
              <a:t>limited</a:t>
            </a:r>
            <a:r>
              <a:rPr sz="2400" spc="-95" dirty="0">
                <a:latin typeface="Arial MT"/>
                <a:cs typeface="Arial MT"/>
                <a:sym typeface="+mn-ea"/>
              </a:rPr>
              <a:t> </a:t>
            </a:r>
            <a:r>
              <a:rPr sz="2400" dirty="0">
                <a:latin typeface="Arial MT"/>
                <a:cs typeface="Arial MT"/>
                <a:sym typeface="+mn-ea"/>
              </a:rPr>
              <a:t>in</a:t>
            </a:r>
            <a:r>
              <a:rPr sz="2400" spc="-175" dirty="0">
                <a:latin typeface="Arial MT"/>
                <a:cs typeface="Arial MT"/>
                <a:sym typeface="+mn-ea"/>
              </a:rPr>
              <a:t> </a:t>
            </a:r>
            <a:r>
              <a:rPr sz="2400" spc="-10" dirty="0">
                <a:latin typeface="Arial MT"/>
                <a:cs typeface="Arial MT"/>
                <a:sym typeface="+mn-ea"/>
              </a:rPr>
              <a:t>their </a:t>
            </a:r>
            <a:r>
              <a:rPr sz="2400" spc="-40" dirty="0">
                <a:latin typeface="Arial MT"/>
                <a:cs typeface="Arial MT"/>
                <a:sym typeface="+mn-ea"/>
              </a:rPr>
              <a:t>native</a:t>
            </a:r>
            <a:r>
              <a:rPr sz="2400" spc="-95" dirty="0">
                <a:latin typeface="Arial MT"/>
                <a:cs typeface="Arial MT"/>
                <a:sym typeface="+mn-ea"/>
              </a:rPr>
              <a:t> </a:t>
            </a:r>
            <a:r>
              <a:rPr sz="2400" spc="-10" dirty="0">
                <a:latin typeface="Arial MT"/>
                <a:cs typeface="Arial MT"/>
                <a:sym typeface="+mn-ea"/>
              </a:rPr>
              <a:t>functionality</a:t>
            </a:r>
            <a:endParaRPr sz="2400">
              <a:latin typeface="Arial MT"/>
              <a:cs typeface="Arial MT"/>
            </a:endParaRPr>
          </a:p>
          <a:p>
            <a:pPr>
              <a:lnSpc>
                <a:spcPct val="100000"/>
              </a:lnSpc>
              <a:spcBef>
                <a:spcPts val="235"/>
              </a:spcBef>
            </a:pPr>
            <a:r>
              <a:rPr sz="2000" spc="110" dirty="0">
                <a:solidFill>
                  <a:srgbClr val="7C7C7C"/>
                </a:solidFill>
                <a:latin typeface="Arial MT"/>
                <a:cs typeface="Arial MT"/>
                <a:sym typeface="+mn-ea"/>
              </a:rPr>
              <a:t>+</a:t>
            </a:r>
            <a:r>
              <a:rPr sz="2000" spc="-75" dirty="0">
                <a:solidFill>
                  <a:srgbClr val="7C7C7C"/>
                </a:solidFill>
                <a:latin typeface="Arial MT"/>
                <a:cs typeface="Arial MT"/>
                <a:sym typeface="+mn-ea"/>
              </a:rPr>
              <a:t> </a:t>
            </a:r>
            <a:r>
              <a:rPr sz="2000" spc="-105" dirty="0">
                <a:latin typeface="Arial MT"/>
                <a:cs typeface="Arial MT"/>
                <a:sym typeface="+mn-ea"/>
              </a:rPr>
              <a:t>No</a:t>
            </a:r>
            <a:r>
              <a:rPr sz="2000" spc="-60" dirty="0">
                <a:latin typeface="Arial MT"/>
                <a:cs typeface="Arial MT"/>
                <a:sym typeface="+mn-ea"/>
              </a:rPr>
              <a:t> </a:t>
            </a:r>
            <a:r>
              <a:rPr sz="2000" spc="-65" dirty="0">
                <a:latin typeface="Arial MT"/>
                <a:cs typeface="Arial MT"/>
                <a:sym typeface="+mn-ea"/>
              </a:rPr>
              <a:t>native</a:t>
            </a:r>
            <a:r>
              <a:rPr sz="2000" spc="40" dirty="0">
                <a:latin typeface="Arial MT"/>
                <a:cs typeface="Arial MT"/>
                <a:sym typeface="+mn-ea"/>
              </a:rPr>
              <a:t> </a:t>
            </a:r>
            <a:r>
              <a:rPr sz="2000" spc="-45" dirty="0">
                <a:latin typeface="Arial MT"/>
                <a:cs typeface="Arial MT"/>
                <a:sym typeface="+mn-ea"/>
              </a:rPr>
              <a:t>file</a:t>
            </a:r>
            <a:r>
              <a:rPr sz="2000" spc="-60" dirty="0">
                <a:latin typeface="Arial MT"/>
                <a:cs typeface="Arial MT"/>
                <a:sym typeface="+mn-ea"/>
              </a:rPr>
              <a:t> </a:t>
            </a:r>
            <a:r>
              <a:rPr sz="2000" spc="-100" dirty="0">
                <a:latin typeface="Arial MT"/>
                <a:cs typeface="Arial MT"/>
                <a:sym typeface="+mn-ea"/>
              </a:rPr>
              <a:t>I/O</a:t>
            </a:r>
            <a:r>
              <a:rPr sz="2000" spc="-65" dirty="0">
                <a:latin typeface="Arial MT"/>
                <a:cs typeface="Arial MT"/>
                <a:sym typeface="+mn-ea"/>
              </a:rPr>
              <a:t> </a:t>
            </a:r>
            <a:r>
              <a:rPr sz="2000" spc="-60" dirty="0">
                <a:latin typeface="Arial MT"/>
                <a:cs typeface="Arial MT"/>
                <a:sym typeface="+mn-ea"/>
              </a:rPr>
              <a:t>capability</a:t>
            </a:r>
            <a:r>
              <a:rPr sz="2000" spc="60" dirty="0">
                <a:latin typeface="Arial MT"/>
                <a:cs typeface="Arial MT"/>
                <a:sym typeface="+mn-ea"/>
              </a:rPr>
              <a:t> </a:t>
            </a:r>
            <a:r>
              <a:rPr sz="2000" spc="-85" dirty="0">
                <a:latin typeface="Arial MT"/>
                <a:cs typeface="Arial MT"/>
                <a:sym typeface="+mn-ea"/>
              </a:rPr>
              <a:t>for</a:t>
            </a:r>
            <a:r>
              <a:rPr sz="2000" spc="-45" dirty="0">
                <a:latin typeface="Arial MT"/>
                <a:cs typeface="Arial MT"/>
                <a:sym typeface="+mn-ea"/>
              </a:rPr>
              <a:t> </a:t>
            </a:r>
            <a:r>
              <a:rPr sz="2000" spc="-10" dirty="0">
                <a:latin typeface="Arial MT"/>
                <a:cs typeface="Arial MT"/>
                <a:sym typeface="+mn-ea"/>
              </a:rPr>
              <a:t>example</a:t>
            </a:r>
          </a:p>
          <a:p>
            <a:pPr marL="0" indent="0">
              <a:lnSpc>
                <a:spcPct val="100000"/>
              </a:lnSpc>
              <a:spcBef>
                <a:spcPts val="235"/>
              </a:spcBef>
              <a:buNone/>
            </a:pPr>
            <a:endParaRPr sz="2000">
              <a:latin typeface="Arial MT"/>
              <a:cs typeface="Arial MT"/>
            </a:endParaRPr>
          </a:p>
          <a:p>
            <a:pPr>
              <a:lnSpc>
                <a:spcPct val="100000"/>
              </a:lnSpc>
              <a:spcBef>
                <a:spcPts val="445"/>
              </a:spcBef>
              <a:tabLst>
                <a:tab pos="351155" algn="l"/>
              </a:tabLst>
            </a:pPr>
            <a:r>
              <a:rPr sz="2400" spc="-60" dirty="0">
                <a:latin typeface="Arial MT"/>
                <a:cs typeface="Arial MT"/>
                <a:sym typeface="+mn-ea"/>
              </a:rPr>
              <a:t>JavaScript</a:t>
            </a:r>
            <a:r>
              <a:rPr sz="2400" spc="125" dirty="0">
                <a:latin typeface="Arial MT"/>
                <a:cs typeface="Arial MT"/>
                <a:sym typeface="+mn-ea"/>
              </a:rPr>
              <a:t> </a:t>
            </a:r>
            <a:r>
              <a:rPr sz="2400" dirty="0">
                <a:latin typeface="Arial MT"/>
                <a:cs typeface="Arial MT"/>
                <a:sym typeface="+mn-ea"/>
              </a:rPr>
              <a:t>/</a:t>
            </a:r>
            <a:r>
              <a:rPr sz="2400" spc="-160" dirty="0">
                <a:latin typeface="Arial MT"/>
                <a:cs typeface="Arial MT"/>
                <a:sym typeface="+mn-ea"/>
              </a:rPr>
              <a:t> </a:t>
            </a:r>
            <a:r>
              <a:rPr sz="2400" spc="-40" dirty="0">
                <a:latin typeface="Arial MT"/>
                <a:cs typeface="Arial MT"/>
                <a:sym typeface="+mn-ea"/>
              </a:rPr>
              <a:t>Jscript</a:t>
            </a:r>
            <a:r>
              <a:rPr sz="2400" spc="10" dirty="0">
                <a:latin typeface="Arial MT"/>
                <a:cs typeface="Arial MT"/>
                <a:sym typeface="+mn-ea"/>
              </a:rPr>
              <a:t> </a:t>
            </a:r>
            <a:r>
              <a:rPr sz="2400" dirty="0">
                <a:latin typeface="Arial MT"/>
                <a:cs typeface="Arial MT"/>
                <a:sym typeface="+mn-ea"/>
              </a:rPr>
              <a:t>/</a:t>
            </a:r>
            <a:r>
              <a:rPr sz="2400" spc="-155" dirty="0">
                <a:latin typeface="Arial MT"/>
                <a:cs typeface="Arial MT"/>
                <a:sym typeface="+mn-ea"/>
              </a:rPr>
              <a:t> </a:t>
            </a:r>
            <a:r>
              <a:rPr sz="2400" spc="-10" dirty="0">
                <a:latin typeface="Arial MT"/>
                <a:cs typeface="Arial MT"/>
                <a:sym typeface="+mn-ea"/>
              </a:rPr>
              <a:t>ECMAScript</a:t>
            </a:r>
            <a:endParaRPr sz="2400">
              <a:latin typeface="Arial MT"/>
              <a:cs typeface="Arial MT"/>
            </a:endParaRPr>
          </a:p>
          <a:p>
            <a:pPr>
              <a:lnSpc>
                <a:spcPct val="100000"/>
              </a:lnSpc>
              <a:spcBef>
                <a:spcPts val="305"/>
              </a:spcBef>
            </a:pPr>
            <a:r>
              <a:rPr sz="2000" spc="110" dirty="0">
                <a:solidFill>
                  <a:srgbClr val="757575"/>
                </a:solidFill>
                <a:latin typeface="Arial MT"/>
                <a:cs typeface="Arial MT"/>
                <a:sym typeface="+mn-ea"/>
              </a:rPr>
              <a:t>+</a:t>
            </a:r>
            <a:r>
              <a:rPr sz="2000" spc="120" dirty="0">
                <a:solidFill>
                  <a:srgbClr val="757575"/>
                </a:solidFill>
                <a:latin typeface="Arial MT"/>
                <a:cs typeface="Arial MT"/>
                <a:sym typeface="+mn-ea"/>
              </a:rPr>
              <a:t> </a:t>
            </a:r>
            <a:r>
              <a:rPr sz="2000" spc="-90" dirty="0">
                <a:latin typeface="Arial MT"/>
                <a:cs typeface="Arial MT"/>
                <a:sym typeface="+mn-ea"/>
              </a:rPr>
              <a:t>Available</a:t>
            </a:r>
            <a:r>
              <a:rPr sz="2000" spc="80" dirty="0">
                <a:latin typeface="Arial MT"/>
                <a:cs typeface="Arial MT"/>
                <a:sym typeface="+mn-ea"/>
              </a:rPr>
              <a:t> </a:t>
            </a:r>
            <a:r>
              <a:rPr sz="2000" spc="-90" dirty="0">
                <a:latin typeface="Arial MT"/>
                <a:cs typeface="Arial MT"/>
                <a:sym typeface="+mn-ea"/>
              </a:rPr>
              <a:t>on</a:t>
            </a:r>
            <a:r>
              <a:rPr sz="2000" spc="-40" dirty="0">
                <a:latin typeface="Arial MT"/>
                <a:cs typeface="Arial MT"/>
                <a:sym typeface="+mn-ea"/>
              </a:rPr>
              <a:t> </a:t>
            </a:r>
            <a:r>
              <a:rPr sz="2000" spc="-90" dirty="0">
                <a:latin typeface="Arial MT"/>
                <a:cs typeface="Arial MT"/>
                <a:sym typeface="+mn-ea"/>
              </a:rPr>
              <a:t>Unix/Linux</a:t>
            </a:r>
            <a:r>
              <a:rPr sz="2000" spc="110" dirty="0">
                <a:latin typeface="Arial MT"/>
                <a:cs typeface="Arial MT"/>
                <a:sym typeface="+mn-ea"/>
              </a:rPr>
              <a:t> </a:t>
            </a:r>
            <a:r>
              <a:rPr sz="2000" spc="-90" dirty="0">
                <a:latin typeface="Arial MT"/>
                <a:cs typeface="Arial MT"/>
                <a:sym typeface="+mn-ea"/>
              </a:rPr>
              <a:t>and</a:t>
            </a:r>
            <a:r>
              <a:rPr sz="2000" spc="-65" dirty="0">
                <a:latin typeface="Arial MT"/>
                <a:cs typeface="Arial MT"/>
                <a:sym typeface="+mn-ea"/>
              </a:rPr>
              <a:t> </a:t>
            </a:r>
            <a:r>
              <a:rPr sz="2000" spc="-10" dirty="0">
                <a:latin typeface="Arial MT"/>
                <a:cs typeface="Arial MT"/>
                <a:sym typeface="+mn-ea"/>
              </a:rPr>
              <a:t>Windows</a:t>
            </a:r>
            <a:endParaRPr sz="2000">
              <a:latin typeface="Arial MT"/>
              <a:cs typeface="Arial MT"/>
            </a:endParaRPr>
          </a:p>
          <a:p>
            <a:pPr>
              <a:lnSpc>
                <a:spcPct val="100000"/>
              </a:lnSpc>
              <a:spcBef>
                <a:spcPts val="350"/>
              </a:spcBef>
              <a:tabLst>
                <a:tab pos="757555" algn="l"/>
              </a:tabLst>
            </a:pPr>
            <a:r>
              <a:rPr sz="2000" spc="-50" dirty="0">
                <a:solidFill>
                  <a:srgbClr val="777777"/>
                </a:solidFill>
                <a:latin typeface="Arial MT"/>
                <a:cs typeface="Arial MT"/>
                <a:sym typeface="+mn-ea"/>
              </a:rPr>
              <a:t>+</a:t>
            </a:r>
            <a:r>
              <a:rPr lang="en-US" sz="2000" spc="-50" dirty="0">
                <a:solidFill>
                  <a:srgbClr val="777777"/>
                </a:solidFill>
                <a:latin typeface="Arial MT"/>
                <a:cs typeface="Arial MT"/>
                <a:sym typeface="+mn-ea"/>
              </a:rPr>
              <a:t> </a:t>
            </a:r>
            <a:r>
              <a:rPr sz="2000" spc="-114" dirty="0">
                <a:latin typeface="Arial MT"/>
                <a:cs typeface="Arial MT"/>
                <a:sym typeface="+mn-ea"/>
              </a:rPr>
              <a:t>C</a:t>
            </a:r>
            <a:r>
              <a:rPr sz="2000" spc="-60" dirty="0">
                <a:latin typeface="Arial MT"/>
                <a:cs typeface="Arial MT"/>
                <a:sym typeface="+mn-ea"/>
              </a:rPr>
              <a:t> </a:t>
            </a:r>
            <a:r>
              <a:rPr sz="2000" spc="-20" dirty="0">
                <a:latin typeface="Arial MT"/>
                <a:cs typeface="Arial MT"/>
                <a:sym typeface="+mn-ea"/>
              </a:rPr>
              <a:t>based</a:t>
            </a:r>
            <a:r>
              <a:rPr sz="2000" spc="-100" dirty="0">
                <a:latin typeface="Arial MT"/>
                <a:cs typeface="Arial MT"/>
                <a:sym typeface="+mn-ea"/>
              </a:rPr>
              <a:t> </a:t>
            </a:r>
            <a:r>
              <a:rPr sz="2000" spc="-10" dirty="0">
                <a:latin typeface="Arial MT"/>
                <a:cs typeface="Arial MT"/>
                <a:sym typeface="+mn-ea"/>
              </a:rPr>
              <a:t>syntax</a:t>
            </a:r>
            <a:endParaRPr sz="2000">
              <a:latin typeface="Arial MT"/>
              <a:cs typeface="Arial MT"/>
            </a:endParaRPr>
          </a:p>
          <a:p>
            <a:pPr>
              <a:lnSpc>
                <a:spcPts val="2480"/>
              </a:lnSpc>
              <a:spcBef>
                <a:spcPts val="315"/>
              </a:spcBef>
            </a:pPr>
            <a:r>
              <a:rPr sz="2000" dirty="0">
                <a:solidFill>
                  <a:srgbClr val="757575"/>
                </a:solidFill>
                <a:latin typeface="Arial MT"/>
                <a:cs typeface="Arial MT"/>
                <a:sym typeface="+mn-ea"/>
              </a:rPr>
              <a:t>+</a:t>
            </a:r>
            <a:r>
              <a:rPr sz="2000" spc="25" dirty="0">
                <a:solidFill>
                  <a:srgbClr val="757575"/>
                </a:solidFill>
                <a:latin typeface="Arial MT"/>
                <a:cs typeface="Arial MT"/>
                <a:sym typeface="+mn-ea"/>
              </a:rPr>
              <a:t> </a:t>
            </a:r>
            <a:r>
              <a:rPr sz="2000" spc="-105" dirty="0">
                <a:latin typeface="Arial MT"/>
                <a:cs typeface="Arial MT"/>
                <a:sym typeface="+mn-ea"/>
              </a:rPr>
              <a:t>Used</a:t>
            </a:r>
            <a:r>
              <a:rPr sz="2000" spc="-40" dirty="0">
                <a:latin typeface="Arial MT"/>
                <a:cs typeface="Arial MT"/>
                <a:sym typeface="+mn-ea"/>
              </a:rPr>
              <a:t> </a:t>
            </a:r>
            <a:r>
              <a:rPr sz="2000" spc="-80" dirty="0">
                <a:latin typeface="Arial MT"/>
                <a:cs typeface="Arial MT"/>
                <a:sym typeface="+mn-ea"/>
              </a:rPr>
              <a:t>almost</a:t>
            </a:r>
            <a:r>
              <a:rPr sz="2000" spc="65" dirty="0">
                <a:latin typeface="Arial MT"/>
                <a:cs typeface="Arial MT"/>
                <a:sym typeface="+mn-ea"/>
              </a:rPr>
              <a:t> </a:t>
            </a:r>
            <a:r>
              <a:rPr sz="2000" spc="-75" dirty="0">
                <a:latin typeface="Arial MT"/>
                <a:cs typeface="Arial MT"/>
                <a:sym typeface="+mn-ea"/>
              </a:rPr>
              <a:t>exclusively</a:t>
            </a:r>
            <a:r>
              <a:rPr sz="2000" spc="95" dirty="0">
                <a:latin typeface="Arial MT"/>
                <a:cs typeface="Arial MT"/>
                <a:sym typeface="+mn-ea"/>
              </a:rPr>
              <a:t> </a:t>
            </a:r>
            <a:r>
              <a:rPr sz="2000" spc="-155" dirty="0">
                <a:latin typeface="Arial MT"/>
                <a:cs typeface="Arial MT"/>
                <a:sym typeface="+mn-ea"/>
              </a:rPr>
              <a:t>as</a:t>
            </a:r>
            <a:r>
              <a:rPr sz="2000" spc="-25" dirty="0">
                <a:latin typeface="Arial MT"/>
                <a:cs typeface="Arial MT"/>
                <a:sym typeface="+mn-ea"/>
              </a:rPr>
              <a:t> </a:t>
            </a:r>
            <a:r>
              <a:rPr sz="2000" spc="-75" dirty="0">
                <a:latin typeface="Arial MT"/>
                <a:cs typeface="Arial MT"/>
                <a:sym typeface="+mn-ea"/>
              </a:rPr>
              <a:t>the</a:t>
            </a:r>
            <a:r>
              <a:rPr sz="2000" spc="-80" dirty="0">
                <a:latin typeface="Arial MT"/>
                <a:cs typeface="Arial MT"/>
                <a:sym typeface="+mn-ea"/>
              </a:rPr>
              <a:t> </a:t>
            </a:r>
            <a:r>
              <a:rPr sz="2000" spc="-95" dirty="0">
                <a:latin typeface="Arial MT"/>
                <a:cs typeface="Arial MT"/>
                <a:sym typeface="+mn-ea"/>
              </a:rPr>
              <a:t>client-</a:t>
            </a:r>
            <a:r>
              <a:rPr sz="2000" spc="-40" dirty="0">
                <a:latin typeface="Arial MT"/>
                <a:cs typeface="Arial MT"/>
                <a:sym typeface="+mn-ea"/>
              </a:rPr>
              <a:t>side</a:t>
            </a:r>
            <a:r>
              <a:rPr sz="2000" spc="65" dirty="0">
                <a:latin typeface="Arial MT"/>
                <a:cs typeface="Arial MT"/>
                <a:sym typeface="+mn-ea"/>
              </a:rPr>
              <a:t> </a:t>
            </a:r>
            <a:r>
              <a:rPr sz="2000" spc="-70" dirty="0">
                <a:latin typeface="Arial MT"/>
                <a:cs typeface="Arial MT"/>
                <a:sym typeface="+mn-ea"/>
              </a:rPr>
              <a:t>scripting</a:t>
            </a:r>
            <a:r>
              <a:rPr sz="2000" spc="-45" dirty="0">
                <a:latin typeface="Arial MT"/>
                <a:cs typeface="Arial MT"/>
                <a:sym typeface="+mn-ea"/>
              </a:rPr>
              <a:t> </a:t>
            </a:r>
            <a:r>
              <a:rPr sz="2000" spc="-100" dirty="0">
                <a:latin typeface="Arial MT"/>
                <a:cs typeface="Arial MT"/>
                <a:sym typeface="+mn-ea"/>
              </a:rPr>
              <a:t>language</a:t>
            </a:r>
            <a:r>
              <a:rPr sz="2000" spc="30" dirty="0">
                <a:latin typeface="Arial MT"/>
                <a:cs typeface="Arial MT"/>
                <a:sym typeface="+mn-ea"/>
              </a:rPr>
              <a:t> </a:t>
            </a:r>
            <a:r>
              <a:rPr sz="2000" spc="-25" dirty="0">
                <a:latin typeface="Arial MT"/>
                <a:cs typeface="Arial MT"/>
                <a:sym typeface="+mn-ea"/>
              </a:rPr>
              <a:t>in</a:t>
            </a:r>
            <a:r>
              <a:rPr lang="en-US" sz="2000" spc="-25" dirty="0">
                <a:latin typeface="Arial MT"/>
                <a:cs typeface="Arial MT"/>
                <a:sym typeface="+mn-ea"/>
              </a:rPr>
              <a:t> </a:t>
            </a:r>
            <a:r>
              <a:rPr sz="2000" spc="-120" dirty="0">
                <a:latin typeface="Arial MT"/>
                <a:cs typeface="Arial MT"/>
                <a:sym typeface="+mn-ea"/>
              </a:rPr>
              <a:t>the</a:t>
            </a:r>
            <a:r>
              <a:rPr sz="2000" spc="-35" dirty="0">
                <a:latin typeface="Arial MT"/>
                <a:cs typeface="Arial MT"/>
                <a:sym typeface="+mn-ea"/>
              </a:rPr>
              <a:t> </a:t>
            </a:r>
            <a:r>
              <a:rPr sz="2000" spc="-100" dirty="0">
                <a:latin typeface="Arial MT"/>
                <a:cs typeface="Arial MT"/>
                <a:sym typeface="+mn-ea"/>
              </a:rPr>
              <a:t>various</a:t>
            </a:r>
            <a:r>
              <a:rPr sz="2000" dirty="0">
                <a:latin typeface="Arial MT"/>
                <a:cs typeface="Arial MT"/>
                <a:sym typeface="+mn-ea"/>
              </a:rPr>
              <a:t> </a:t>
            </a:r>
            <a:r>
              <a:rPr sz="2000" spc="-170" dirty="0">
                <a:latin typeface="Arial MT"/>
                <a:cs typeface="Arial MT"/>
                <a:sym typeface="+mn-ea"/>
              </a:rPr>
              <a:t>web</a:t>
            </a:r>
            <a:r>
              <a:rPr sz="2000" spc="-50" dirty="0">
                <a:latin typeface="Arial MT"/>
                <a:cs typeface="Arial MT"/>
                <a:sym typeface="+mn-ea"/>
              </a:rPr>
              <a:t> </a:t>
            </a:r>
            <a:r>
              <a:rPr sz="2000" spc="-10" dirty="0">
                <a:latin typeface="Arial MT"/>
                <a:cs typeface="Arial MT"/>
                <a:sym typeface="+mn-ea"/>
              </a:rPr>
              <a:t>browsers</a:t>
            </a:r>
            <a:endParaRPr sz="2000">
              <a:latin typeface="Arial MT"/>
              <a:cs typeface="Arial MT"/>
            </a:endParaRPr>
          </a:p>
          <a:p>
            <a:pPr marR="5080">
              <a:lnSpc>
                <a:spcPts val="2430"/>
              </a:lnSpc>
              <a:spcBef>
                <a:spcPts val="465"/>
              </a:spcBef>
            </a:pPr>
            <a:r>
              <a:rPr sz="2000" spc="60" dirty="0">
                <a:solidFill>
                  <a:srgbClr val="7C7C7C"/>
                </a:solidFill>
                <a:latin typeface="Arial MT"/>
                <a:cs typeface="Arial MT"/>
                <a:sym typeface="+mn-ea"/>
              </a:rPr>
              <a:t>+</a:t>
            </a:r>
            <a:r>
              <a:rPr sz="2000" spc="55" dirty="0">
                <a:solidFill>
                  <a:srgbClr val="7C7C7C"/>
                </a:solidFill>
                <a:latin typeface="Arial MT"/>
                <a:cs typeface="Arial MT"/>
                <a:sym typeface="+mn-ea"/>
              </a:rPr>
              <a:t> </a:t>
            </a:r>
            <a:r>
              <a:rPr sz="2000" spc="-165" dirty="0">
                <a:latin typeface="Arial MT"/>
                <a:cs typeface="Arial MT"/>
                <a:sym typeface="+mn-ea"/>
              </a:rPr>
              <a:t>Can</a:t>
            </a:r>
            <a:r>
              <a:rPr sz="2000" spc="-15" dirty="0">
                <a:latin typeface="Arial MT"/>
                <a:cs typeface="Arial MT"/>
                <a:sym typeface="+mn-ea"/>
              </a:rPr>
              <a:t> </a:t>
            </a:r>
            <a:r>
              <a:rPr sz="2000" spc="-120" dirty="0">
                <a:latin typeface="Arial MT"/>
                <a:cs typeface="Arial MT"/>
                <a:sym typeface="+mn-ea"/>
              </a:rPr>
              <a:t>be</a:t>
            </a:r>
            <a:r>
              <a:rPr sz="2000" spc="-30" dirty="0">
                <a:latin typeface="Arial MT"/>
                <a:cs typeface="Arial MT"/>
                <a:sym typeface="+mn-ea"/>
              </a:rPr>
              <a:t> </a:t>
            </a:r>
            <a:r>
              <a:rPr sz="2000" spc="-125" dirty="0">
                <a:latin typeface="Arial MT"/>
                <a:cs typeface="Arial MT"/>
                <a:sym typeface="+mn-ea"/>
              </a:rPr>
              <a:t>used</a:t>
            </a:r>
            <a:r>
              <a:rPr sz="2000" spc="25" dirty="0">
                <a:latin typeface="Arial MT"/>
                <a:cs typeface="Arial MT"/>
                <a:sym typeface="+mn-ea"/>
              </a:rPr>
              <a:t> </a:t>
            </a:r>
            <a:r>
              <a:rPr sz="2000" spc="-140" dirty="0">
                <a:latin typeface="Arial MT"/>
                <a:cs typeface="Arial MT"/>
                <a:sym typeface="+mn-ea"/>
              </a:rPr>
              <a:t>as</a:t>
            </a:r>
            <a:r>
              <a:rPr sz="2000" spc="-15" dirty="0">
                <a:latin typeface="Arial MT"/>
                <a:cs typeface="Arial MT"/>
                <a:sym typeface="+mn-ea"/>
              </a:rPr>
              <a:t> </a:t>
            </a:r>
            <a:r>
              <a:rPr sz="2000" spc="-120" dirty="0">
                <a:latin typeface="Arial MT"/>
                <a:cs typeface="Arial MT"/>
                <a:sym typeface="+mn-ea"/>
              </a:rPr>
              <a:t>a</a:t>
            </a:r>
            <a:r>
              <a:rPr sz="2000" spc="-110" dirty="0">
                <a:latin typeface="Arial MT"/>
                <a:cs typeface="Arial MT"/>
                <a:sym typeface="+mn-ea"/>
              </a:rPr>
              <a:t> </a:t>
            </a:r>
            <a:r>
              <a:rPr sz="2000" spc="-125" dirty="0">
                <a:latin typeface="Arial MT"/>
                <a:cs typeface="Arial MT"/>
                <a:sym typeface="+mn-ea"/>
              </a:rPr>
              <a:t>system</a:t>
            </a:r>
            <a:r>
              <a:rPr sz="2000" spc="-15" dirty="0">
                <a:latin typeface="Arial MT"/>
                <a:cs typeface="Arial MT"/>
                <a:sym typeface="+mn-ea"/>
              </a:rPr>
              <a:t> </a:t>
            </a:r>
            <a:r>
              <a:rPr sz="2000" spc="-100" dirty="0">
                <a:latin typeface="Arial MT"/>
                <a:cs typeface="Arial MT"/>
                <a:sym typeface="+mn-ea"/>
              </a:rPr>
              <a:t>scripting</a:t>
            </a:r>
            <a:r>
              <a:rPr sz="2000" dirty="0">
                <a:latin typeface="Arial MT"/>
                <a:cs typeface="Arial MT"/>
                <a:sym typeface="+mn-ea"/>
              </a:rPr>
              <a:t> </a:t>
            </a:r>
            <a:r>
              <a:rPr sz="2000" spc="-125" dirty="0">
                <a:latin typeface="Arial MT"/>
                <a:cs typeface="Arial MT"/>
                <a:sym typeface="+mn-ea"/>
              </a:rPr>
              <a:t>language</a:t>
            </a:r>
            <a:r>
              <a:rPr sz="2000" dirty="0">
                <a:latin typeface="Arial MT"/>
                <a:cs typeface="Arial MT"/>
                <a:sym typeface="+mn-ea"/>
              </a:rPr>
              <a:t> </a:t>
            </a:r>
            <a:r>
              <a:rPr sz="2000" spc="-35" dirty="0">
                <a:latin typeface="Arial MT"/>
                <a:cs typeface="Arial MT"/>
                <a:sym typeface="+mn-ea"/>
              </a:rPr>
              <a:t>in</a:t>
            </a:r>
            <a:r>
              <a:rPr sz="2000" spc="-75" dirty="0">
                <a:latin typeface="Arial MT"/>
                <a:cs typeface="Arial MT"/>
                <a:sym typeface="+mn-ea"/>
              </a:rPr>
              <a:t> </a:t>
            </a:r>
            <a:r>
              <a:rPr sz="2000" spc="-130" dirty="0">
                <a:latin typeface="Arial MT"/>
                <a:cs typeface="Arial MT"/>
                <a:sym typeface="+mn-ea"/>
              </a:rPr>
              <a:t>Windows</a:t>
            </a:r>
            <a:r>
              <a:rPr sz="2000" spc="125" dirty="0">
                <a:latin typeface="Arial MT"/>
                <a:cs typeface="Arial MT"/>
                <a:sym typeface="+mn-ea"/>
              </a:rPr>
              <a:t> </a:t>
            </a:r>
            <a:r>
              <a:rPr sz="2000" spc="-110" dirty="0">
                <a:latin typeface="Arial MT"/>
                <a:cs typeface="Arial MT"/>
                <a:sym typeface="+mn-ea"/>
              </a:rPr>
              <a:t>via</a:t>
            </a:r>
            <a:r>
              <a:rPr sz="2000" spc="-60" dirty="0">
                <a:latin typeface="Arial MT"/>
                <a:cs typeface="Arial MT"/>
                <a:sym typeface="+mn-ea"/>
              </a:rPr>
              <a:t> </a:t>
            </a:r>
            <a:r>
              <a:rPr sz="2000" spc="-25" dirty="0">
                <a:latin typeface="Arial MT"/>
                <a:cs typeface="Arial MT"/>
                <a:sym typeface="+mn-ea"/>
              </a:rPr>
              <a:t>the </a:t>
            </a:r>
            <a:r>
              <a:rPr sz="2000" spc="-140" dirty="0">
                <a:latin typeface="Arial MT"/>
                <a:cs typeface="Arial MT"/>
                <a:sym typeface="+mn-ea"/>
              </a:rPr>
              <a:t>Windows</a:t>
            </a:r>
            <a:r>
              <a:rPr lang="en-US" sz="2000" spc="-140" dirty="0">
                <a:latin typeface="Arial MT"/>
                <a:cs typeface="Arial MT"/>
                <a:sym typeface="+mn-ea"/>
              </a:rPr>
              <a:t> </a:t>
            </a:r>
            <a:r>
              <a:rPr sz="2000" spc="-105" dirty="0">
                <a:latin typeface="Arial MT"/>
                <a:cs typeface="Arial MT"/>
                <a:sym typeface="+mn-ea"/>
              </a:rPr>
              <a:t>Scripting</a:t>
            </a:r>
            <a:r>
              <a:rPr sz="2000" spc="-5" dirty="0">
                <a:latin typeface="Arial MT"/>
                <a:cs typeface="Arial MT"/>
                <a:sym typeface="+mn-ea"/>
              </a:rPr>
              <a:t> </a:t>
            </a:r>
            <a:r>
              <a:rPr sz="2000" spc="-20" dirty="0">
                <a:latin typeface="Arial MT"/>
                <a:cs typeface="Arial MT"/>
                <a:sym typeface="+mn-ea"/>
              </a:rPr>
              <a:t>Host</a:t>
            </a:r>
            <a:endParaRPr sz="2000">
              <a:latin typeface="Arial MT"/>
              <a:cs typeface="Arial MT"/>
            </a:endParaRPr>
          </a:p>
          <a:p>
            <a:pPr>
              <a:lnSpc>
                <a:spcPct val="100000"/>
              </a:lnSpc>
              <a:spcBef>
                <a:spcPts val="340"/>
              </a:spcBef>
              <a:tabLst>
                <a:tab pos="750570" algn="l"/>
              </a:tabLst>
            </a:pPr>
            <a:r>
              <a:rPr sz="2000" spc="-50" dirty="0">
                <a:solidFill>
                  <a:srgbClr val="808080"/>
                </a:solidFill>
                <a:latin typeface="Arial MT"/>
                <a:cs typeface="Arial MT"/>
                <a:sym typeface="+mn-ea"/>
              </a:rPr>
              <a:t>+</a:t>
            </a:r>
            <a:r>
              <a:rPr lang="en-US" sz="2000" spc="-50" dirty="0">
                <a:solidFill>
                  <a:srgbClr val="808080"/>
                </a:solidFill>
                <a:latin typeface="Arial MT"/>
                <a:cs typeface="Arial MT"/>
                <a:sym typeface="+mn-ea"/>
              </a:rPr>
              <a:t> </a:t>
            </a:r>
            <a:r>
              <a:rPr sz="2000" dirty="0">
                <a:latin typeface="Arial MT"/>
                <a:cs typeface="Arial MT"/>
                <a:sym typeface="+mn-ea"/>
              </a:rPr>
              <a:t>Not</a:t>
            </a:r>
            <a:r>
              <a:rPr sz="2000" spc="-114" dirty="0">
                <a:latin typeface="Arial MT"/>
                <a:cs typeface="Arial MT"/>
                <a:sym typeface="+mn-ea"/>
              </a:rPr>
              <a:t> </a:t>
            </a:r>
            <a:r>
              <a:rPr sz="2000" spc="-10" dirty="0">
                <a:latin typeface="Arial MT"/>
                <a:cs typeface="Arial MT"/>
                <a:sym typeface="+mn-ea"/>
              </a:rPr>
              <a:t>generally</a:t>
            </a:r>
            <a:r>
              <a:rPr sz="2000" spc="-20" dirty="0">
                <a:latin typeface="Arial MT"/>
                <a:cs typeface="Arial MT"/>
                <a:sym typeface="+mn-ea"/>
              </a:rPr>
              <a:t> </a:t>
            </a:r>
            <a:r>
              <a:rPr sz="2000" dirty="0">
                <a:latin typeface="Arial MT"/>
                <a:cs typeface="Arial MT"/>
                <a:sym typeface="+mn-ea"/>
              </a:rPr>
              <a:t>used</a:t>
            </a:r>
            <a:r>
              <a:rPr sz="2000" spc="-90" dirty="0">
                <a:latin typeface="Arial MT"/>
                <a:cs typeface="Arial MT"/>
                <a:sym typeface="+mn-ea"/>
              </a:rPr>
              <a:t> </a:t>
            </a:r>
            <a:r>
              <a:rPr sz="2000" dirty="0">
                <a:latin typeface="Arial MT"/>
                <a:cs typeface="Arial MT"/>
                <a:sym typeface="+mn-ea"/>
              </a:rPr>
              <a:t>in</a:t>
            </a:r>
            <a:r>
              <a:rPr sz="2000" spc="-140" dirty="0">
                <a:latin typeface="Arial MT"/>
                <a:cs typeface="Arial MT"/>
                <a:sym typeface="+mn-ea"/>
              </a:rPr>
              <a:t> </a:t>
            </a:r>
            <a:r>
              <a:rPr sz="2000" spc="-25" dirty="0">
                <a:latin typeface="Arial MT"/>
                <a:cs typeface="Arial MT"/>
                <a:sym typeface="+mn-ea"/>
              </a:rPr>
              <a:t>Unix/Linux</a:t>
            </a:r>
            <a:r>
              <a:rPr sz="2000" spc="40" dirty="0">
                <a:latin typeface="Arial MT"/>
                <a:cs typeface="Arial MT"/>
                <a:sym typeface="+mn-ea"/>
              </a:rPr>
              <a:t> </a:t>
            </a:r>
            <a:r>
              <a:rPr sz="2000" dirty="0">
                <a:latin typeface="Arial MT"/>
                <a:cs typeface="Arial MT"/>
                <a:sym typeface="+mn-ea"/>
              </a:rPr>
              <a:t>for</a:t>
            </a:r>
            <a:r>
              <a:rPr sz="2000" spc="-100" dirty="0">
                <a:latin typeface="Arial MT"/>
                <a:cs typeface="Arial MT"/>
                <a:sym typeface="+mn-ea"/>
              </a:rPr>
              <a:t> </a:t>
            </a:r>
            <a:r>
              <a:rPr sz="2000" spc="-25" dirty="0">
                <a:latin typeface="Arial MT"/>
                <a:cs typeface="Arial MT"/>
                <a:sym typeface="+mn-ea"/>
              </a:rPr>
              <a:t>general</a:t>
            </a:r>
            <a:r>
              <a:rPr sz="2000" spc="-120" dirty="0">
                <a:latin typeface="Arial MT"/>
                <a:cs typeface="Arial MT"/>
                <a:sym typeface="+mn-ea"/>
              </a:rPr>
              <a:t> </a:t>
            </a:r>
            <a:r>
              <a:rPr sz="2000" spc="-10" dirty="0">
                <a:latin typeface="Arial MT"/>
                <a:cs typeface="Arial MT"/>
                <a:sym typeface="+mn-ea"/>
              </a:rPr>
              <a:t>purpose</a:t>
            </a:r>
            <a:r>
              <a:rPr sz="2000" spc="-55" dirty="0">
                <a:latin typeface="Arial MT"/>
                <a:cs typeface="Arial MT"/>
                <a:sym typeface="+mn-ea"/>
              </a:rPr>
              <a:t> </a:t>
            </a:r>
            <a:r>
              <a:rPr sz="2000" spc="-10" dirty="0">
                <a:latin typeface="Arial MT"/>
                <a:cs typeface="Arial MT"/>
                <a:sym typeface="+mn-ea"/>
              </a:rPr>
              <a:t>scripting</a:t>
            </a:r>
            <a:endParaRPr sz="2000">
              <a:latin typeface="Arial MT"/>
              <a:cs typeface="Arial MT"/>
            </a:endParaRPr>
          </a:p>
          <a:p>
            <a:pPr>
              <a:lnSpc>
                <a:spcPct val="100000"/>
              </a:lnSpc>
              <a:spcBef>
                <a:spcPts val="425"/>
              </a:spcBef>
            </a:pPr>
            <a:r>
              <a:rPr sz="2000" spc="-50" dirty="0">
                <a:solidFill>
                  <a:srgbClr val="808080"/>
                </a:solidFill>
                <a:latin typeface="Arial MT"/>
                <a:cs typeface="Arial MT"/>
                <a:sym typeface="+mn-ea"/>
              </a:rPr>
              <a:t>+</a:t>
            </a:r>
            <a:r>
              <a:rPr lang="en-US" sz="2000" spc="-50" dirty="0">
                <a:solidFill>
                  <a:srgbClr val="808080"/>
                </a:solidFill>
                <a:latin typeface="Arial MT"/>
                <a:cs typeface="Arial MT"/>
                <a:sym typeface="+mn-ea"/>
              </a:rPr>
              <a:t> </a:t>
            </a:r>
            <a:r>
              <a:rPr sz="2000" spc="-10" dirty="0">
                <a:latin typeface="Arial MT"/>
                <a:cs typeface="Arial MT"/>
                <a:sym typeface="+mn-ea"/>
              </a:rPr>
              <a:t>SpiderMonkey</a:t>
            </a:r>
            <a:r>
              <a:rPr sz="2000" spc="170" dirty="0">
                <a:latin typeface="Arial MT"/>
                <a:cs typeface="Arial MT"/>
                <a:sym typeface="+mn-ea"/>
              </a:rPr>
              <a:t> </a:t>
            </a:r>
            <a:r>
              <a:rPr sz="2000" dirty="0">
                <a:latin typeface="Arial MT"/>
                <a:cs typeface="Arial MT"/>
                <a:sym typeface="+mn-ea"/>
              </a:rPr>
              <a:t>is</a:t>
            </a:r>
            <a:r>
              <a:rPr sz="2000" spc="-15" dirty="0">
                <a:latin typeface="Arial MT"/>
                <a:cs typeface="Arial MT"/>
                <a:sym typeface="+mn-ea"/>
              </a:rPr>
              <a:t> </a:t>
            </a:r>
            <a:r>
              <a:rPr sz="2000" dirty="0">
                <a:latin typeface="Arial MT"/>
                <a:cs typeface="Arial MT"/>
                <a:sym typeface="+mn-ea"/>
              </a:rPr>
              <a:t>C</a:t>
            </a:r>
            <a:r>
              <a:rPr sz="2000" spc="-95" dirty="0">
                <a:latin typeface="Arial MT"/>
                <a:cs typeface="Arial MT"/>
                <a:sym typeface="+mn-ea"/>
              </a:rPr>
              <a:t> </a:t>
            </a:r>
            <a:r>
              <a:rPr sz="2000" dirty="0">
                <a:latin typeface="Arial MT"/>
                <a:cs typeface="Arial MT"/>
                <a:sym typeface="+mn-ea"/>
              </a:rPr>
              <a:t>based</a:t>
            </a:r>
            <a:r>
              <a:rPr sz="2000" spc="-35" dirty="0">
                <a:latin typeface="Arial MT"/>
                <a:cs typeface="Arial MT"/>
                <a:sym typeface="+mn-ea"/>
              </a:rPr>
              <a:t> </a:t>
            </a:r>
            <a:r>
              <a:rPr sz="2000" dirty="0">
                <a:latin typeface="Arial MT"/>
                <a:cs typeface="Arial MT"/>
                <a:sym typeface="+mn-ea"/>
              </a:rPr>
              <a:t>JS</a:t>
            </a:r>
            <a:r>
              <a:rPr sz="2000" spc="-40" dirty="0">
                <a:latin typeface="Arial MT"/>
                <a:cs typeface="Arial MT"/>
                <a:sym typeface="+mn-ea"/>
              </a:rPr>
              <a:t> </a:t>
            </a:r>
            <a:r>
              <a:rPr sz="2000" spc="-10" dirty="0">
                <a:latin typeface="Arial MT"/>
                <a:cs typeface="Arial MT"/>
                <a:sym typeface="+mn-ea"/>
              </a:rPr>
              <a:t>interpreter</a:t>
            </a:r>
            <a:endParaRPr sz="2000">
              <a:latin typeface="Arial MT"/>
              <a:cs typeface="Arial MT"/>
            </a:endParaRPr>
          </a:p>
          <a:p>
            <a:pPr>
              <a:lnSpc>
                <a:spcPct val="100000"/>
              </a:lnSpc>
              <a:spcBef>
                <a:spcPts val="410"/>
              </a:spcBef>
              <a:tabLst>
                <a:tab pos="1163320" algn="l"/>
              </a:tabLst>
            </a:pPr>
            <a:r>
              <a:rPr sz="2000" spc="-50" dirty="0">
                <a:solidFill>
                  <a:srgbClr val="808080"/>
                </a:solidFill>
                <a:latin typeface="Arial MT"/>
                <a:cs typeface="Arial MT"/>
                <a:sym typeface="+mn-ea"/>
              </a:rPr>
              <a:t>+</a:t>
            </a:r>
            <a:r>
              <a:rPr lang="en-US" sz="2000" spc="-50" dirty="0">
                <a:solidFill>
                  <a:srgbClr val="808080"/>
                </a:solidFill>
                <a:latin typeface="Arial MT"/>
                <a:cs typeface="Arial MT"/>
                <a:sym typeface="+mn-ea"/>
              </a:rPr>
              <a:t> </a:t>
            </a:r>
            <a:r>
              <a:rPr sz="2000" dirty="0">
                <a:latin typeface="Arial MT"/>
                <a:cs typeface="Arial MT"/>
                <a:sym typeface="+mn-ea"/>
              </a:rPr>
              <a:t>Rhino</a:t>
            </a:r>
            <a:r>
              <a:rPr sz="2000" spc="25" dirty="0">
                <a:latin typeface="Arial MT"/>
                <a:cs typeface="Arial MT"/>
                <a:sym typeface="+mn-ea"/>
              </a:rPr>
              <a:t> </a:t>
            </a:r>
            <a:r>
              <a:rPr sz="2000" dirty="0">
                <a:latin typeface="Arial MT"/>
                <a:cs typeface="Arial MT"/>
                <a:sym typeface="+mn-ea"/>
              </a:rPr>
              <a:t>is</a:t>
            </a:r>
            <a:r>
              <a:rPr sz="2000" spc="-100" dirty="0">
                <a:latin typeface="Arial MT"/>
                <a:cs typeface="Arial MT"/>
                <a:sym typeface="+mn-ea"/>
              </a:rPr>
              <a:t> </a:t>
            </a:r>
            <a:r>
              <a:rPr sz="2000" dirty="0">
                <a:latin typeface="Arial MT"/>
                <a:cs typeface="Arial MT"/>
                <a:sym typeface="+mn-ea"/>
              </a:rPr>
              <a:t>Java</a:t>
            </a:r>
            <a:r>
              <a:rPr sz="2000" spc="-65" dirty="0">
                <a:latin typeface="Arial MT"/>
                <a:cs typeface="Arial MT"/>
                <a:sym typeface="+mn-ea"/>
              </a:rPr>
              <a:t> </a:t>
            </a:r>
            <a:r>
              <a:rPr sz="2000" dirty="0">
                <a:latin typeface="Arial MT"/>
                <a:cs typeface="Arial MT"/>
                <a:sym typeface="+mn-ea"/>
              </a:rPr>
              <a:t>based</a:t>
            </a:r>
            <a:r>
              <a:rPr sz="2000" spc="-40" dirty="0">
                <a:latin typeface="Arial MT"/>
                <a:cs typeface="Arial MT"/>
                <a:sym typeface="+mn-ea"/>
              </a:rPr>
              <a:t> </a:t>
            </a:r>
            <a:r>
              <a:rPr sz="2000" dirty="0">
                <a:latin typeface="Arial MT"/>
                <a:cs typeface="Arial MT"/>
                <a:sym typeface="+mn-ea"/>
              </a:rPr>
              <a:t>JS</a:t>
            </a:r>
            <a:r>
              <a:rPr sz="2000" spc="-40" dirty="0">
                <a:latin typeface="Arial MT"/>
                <a:cs typeface="Arial MT"/>
                <a:sym typeface="+mn-ea"/>
              </a:rPr>
              <a:t> </a:t>
            </a:r>
            <a:r>
              <a:rPr sz="2000" spc="-10" dirty="0">
                <a:latin typeface="Arial MT"/>
                <a:cs typeface="Arial MT"/>
                <a:sym typeface="+mn-ea"/>
              </a:rPr>
              <a:t>interpreter</a:t>
            </a:r>
            <a:endParaRPr sz="2000">
              <a:latin typeface="Arial MT"/>
              <a:cs typeface="Arial MT"/>
            </a:endParaRPr>
          </a:p>
          <a:p>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Scripting Languages</a:t>
            </a:r>
            <a:endParaRPr lang="en-US"/>
          </a:p>
        </p:txBody>
      </p:sp>
      <p:sp>
        <p:nvSpPr>
          <p:cNvPr id="3" name="Content Placeholder 2"/>
          <p:cNvSpPr>
            <a:spLocks noGrp="1"/>
          </p:cNvSpPr>
          <p:nvPr>
            <p:ph idx="1"/>
          </p:nvPr>
        </p:nvSpPr>
        <p:spPr>
          <a:xfrm>
            <a:off x="609600" y="1047750"/>
            <a:ext cx="10972800" cy="5573395"/>
          </a:xfrm>
        </p:spPr>
        <p:txBody>
          <a:bodyPr/>
          <a:lstStyle/>
          <a:p>
            <a:pPr marR="200660">
              <a:lnSpc>
                <a:spcPts val="2880"/>
              </a:lnSpc>
              <a:spcBef>
                <a:spcPts val="380"/>
              </a:spcBef>
              <a:tabLst>
                <a:tab pos="357505" algn="l"/>
                <a:tab pos="360680" algn="l"/>
                <a:tab pos="3731895" algn="l"/>
              </a:tabLst>
            </a:pPr>
            <a:r>
              <a:rPr sz="2400" spc="-60" dirty="0">
                <a:latin typeface="Arial MT"/>
                <a:cs typeface="Arial MT"/>
                <a:sym typeface="+mn-ea"/>
              </a:rPr>
              <a:t>Full</a:t>
            </a:r>
            <a:r>
              <a:rPr sz="2400" spc="-120" dirty="0">
                <a:latin typeface="Arial MT"/>
                <a:cs typeface="Arial MT"/>
                <a:sym typeface="+mn-ea"/>
              </a:rPr>
              <a:t> </a:t>
            </a:r>
            <a:r>
              <a:rPr sz="2400" spc="-65" dirty="0">
                <a:latin typeface="Arial MT"/>
                <a:cs typeface="Arial MT"/>
                <a:sym typeface="+mn-ea"/>
              </a:rPr>
              <a:t>scripting</a:t>
            </a:r>
            <a:r>
              <a:rPr sz="2400" spc="-70" dirty="0">
                <a:latin typeface="Arial MT"/>
                <a:cs typeface="Arial MT"/>
                <a:sym typeface="+mn-ea"/>
              </a:rPr>
              <a:t> </a:t>
            </a:r>
            <a:r>
              <a:rPr sz="2400" spc="-10" dirty="0">
                <a:latin typeface="Arial MT"/>
                <a:cs typeface="Arial MT"/>
                <a:sym typeface="+mn-ea"/>
              </a:rPr>
              <a:t>languages,</a:t>
            </a:r>
            <a:r>
              <a:rPr lang="en-US" sz="2400" spc="-10" dirty="0">
                <a:latin typeface="Arial MT"/>
                <a:cs typeface="Arial MT"/>
                <a:sym typeface="+mn-ea"/>
              </a:rPr>
              <a:t> </a:t>
            </a:r>
            <a:r>
              <a:rPr sz="2400" spc="-70" dirty="0">
                <a:latin typeface="Arial MT"/>
                <a:cs typeface="Arial MT"/>
                <a:sym typeface="+mn-ea"/>
              </a:rPr>
              <a:t>level</a:t>
            </a:r>
            <a:r>
              <a:rPr sz="2400" spc="-90" dirty="0">
                <a:latin typeface="Arial MT"/>
                <a:cs typeface="Arial MT"/>
                <a:sym typeface="+mn-ea"/>
              </a:rPr>
              <a:t> </a:t>
            </a:r>
            <a:r>
              <a:rPr sz="2400" dirty="0">
                <a:latin typeface="Arial MT"/>
                <a:cs typeface="Arial MT"/>
                <a:sym typeface="+mn-ea"/>
              </a:rPr>
              <a:t>3,</a:t>
            </a:r>
            <a:r>
              <a:rPr sz="2400" spc="-180" dirty="0">
                <a:latin typeface="Arial MT"/>
                <a:cs typeface="Arial MT"/>
                <a:sym typeface="+mn-ea"/>
              </a:rPr>
              <a:t> </a:t>
            </a:r>
            <a:r>
              <a:rPr sz="2400" spc="-65" dirty="0">
                <a:latin typeface="Arial MT"/>
                <a:cs typeface="Arial MT"/>
                <a:sym typeface="+mn-ea"/>
              </a:rPr>
              <a:t>have</a:t>
            </a:r>
            <a:r>
              <a:rPr sz="2400" spc="-75" dirty="0">
                <a:latin typeface="Arial MT"/>
                <a:cs typeface="Arial MT"/>
                <a:sym typeface="+mn-ea"/>
              </a:rPr>
              <a:t> </a:t>
            </a:r>
            <a:r>
              <a:rPr sz="2400" dirty="0">
                <a:latin typeface="Arial MT"/>
                <a:cs typeface="Arial MT"/>
                <a:sym typeface="+mn-ea"/>
              </a:rPr>
              <a:t>a</a:t>
            </a:r>
            <a:r>
              <a:rPr sz="2400" spc="-180" dirty="0">
                <a:latin typeface="Arial MT"/>
                <a:cs typeface="Arial MT"/>
                <a:sym typeface="+mn-ea"/>
              </a:rPr>
              <a:t> </a:t>
            </a:r>
            <a:r>
              <a:rPr sz="2400" spc="-85" dirty="0">
                <a:latin typeface="Arial MT"/>
                <a:cs typeface="Arial MT"/>
                <a:sym typeface="+mn-ea"/>
              </a:rPr>
              <a:t>sophisticated language</a:t>
            </a:r>
            <a:r>
              <a:rPr sz="2400" spc="-20" dirty="0">
                <a:latin typeface="Arial MT"/>
                <a:cs typeface="Arial MT"/>
                <a:sym typeface="+mn-ea"/>
              </a:rPr>
              <a:t> </a:t>
            </a:r>
            <a:r>
              <a:rPr sz="2400" spc="-70" dirty="0">
                <a:latin typeface="Arial MT"/>
                <a:cs typeface="Arial MT"/>
                <a:sym typeface="+mn-ea"/>
              </a:rPr>
              <a:t>structure</a:t>
            </a:r>
            <a:r>
              <a:rPr sz="2400" spc="-105" dirty="0">
                <a:latin typeface="Arial MT"/>
                <a:cs typeface="Arial MT"/>
                <a:sym typeface="+mn-ea"/>
              </a:rPr>
              <a:t> </a:t>
            </a:r>
            <a:r>
              <a:rPr sz="2400" spc="-60" dirty="0">
                <a:latin typeface="Arial MT"/>
                <a:cs typeface="Arial MT"/>
                <a:sym typeface="+mn-ea"/>
              </a:rPr>
              <a:t>and</a:t>
            </a:r>
            <a:r>
              <a:rPr sz="2400" spc="-120" dirty="0">
                <a:latin typeface="Arial MT"/>
                <a:cs typeface="Arial MT"/>
                <a:sym typeface="+mn-ea"/>
              </a:rPr>
              <a:t> </a:t>
            </a:r>
            <a:r>
              <a:rPr sz="2400" spc="-85" dirty="0">
                <a:latin typeface="Arial MT"/>
                <a:cs typeface="Arial MT"/>
                <a:sym typeface="+mn-ea"/>
              </a:rPr>
              <a:t>extensive</a:t>
            </a:r>
            <a:r>
              <a:rPr sz="2400" spc="-20" dirty="0">
                <a:latin typeface="Arial MT"/>
                <a:cs typeface="Arial MT"/>
                <a:sym typeface="+mn-ea"/>
              </a:rPr>
              <a:t> </a:t>
            </a:r>
            <a:r>
              <a:rPr sz="2400" spc="-70" dirty="0">
                <a:latin typeface="Arial MT"/>
                <a:cs typeface="Arial MT"/>
                <a:sym typeface="+mn-ea"/>
              </a:rPr>
              <a:t>application</a:t>
            </a:r>
            <a:r>
              <a:rPr sz="2400" spc="30" dirty="0">
                <a:latin typeface="Arial MT"/>
                <a:cs typeface="Arial MT"/>
                <a:sym typeface="+mn-ea"/>
              </a:rPr>
              <a:t> </a:t>
            </a:r>
            <a:r>
              <a:rPr sz="2400" spc="-10" dirty="0">
                <a:latin typeface="Arial MT"/>
                <a:cs typeface="Arial MT"/>
                <a:sym typeface="+mn-ea"/>
              </a:rPr>
              <a:t>support</a:t>
            </a:r>
          </a:p>
          <a:p>
            <a:pPr marL="0" marR="200660" indent="0">
              <a:lnSpc>
                <a:spcPts val="2880"/>
              </a:lnSpc>
              <a:spcBef>
                <a:spcPts val="380"/>
              </a:spcBef>
              <a:buNone/>
              <a:tabLst>
                <a:tab pos="357505" algn="l"/>
                <a:tab pos="360680" algn="l"/>
                <a:tab pos="3731895" algn="l"/>
              </a:tabLst>
            </a:pPr>
            <a:endParaRPr sz="2400">
              <a:latin typeface="Arial MT"/>
              <a:cs typeface="Arial MT"/>
            </a:endParaRPr>
          </a:p>
          <a:p>
            <a:pPr>
              <a:lnSpc>
                <a:spcPct val="100000"/>
              </a:lnSpc>
              <a:spcBef>
                <a:spcPts val="310"/>
              </a:spcBef>
              <a:tabLst>
                <a:tab pos="361315" algn="l"/>
              </a:tabLst>
            </a:pPr>
            <a:r>
              <a:rPr sz="2400" spc="-125" dirty="0">
                <a:latin typeface="Arial MT"/>
                <a:cs typeface="Arial MT"/>
                <a:sym typeface="+mn-ea"/>
              </a:rPr>
              <a:t>Perl</a:t>
            </a:r>
            <a:r>
              <a:rPr sz="2400" spc="-60" dirty="0">
                <a:latin typeface="Arial MT"/>
                <a:cs typeface="Arial MT"/>
                <a:sym typeface="+mn-ea"/>
              </a:rPr>
              <a:t> </a:t>
            </a:r>
            <a:r>
              <a:rPr sz="2400" spc="-1275" dirty="0">
                <a:latin typeface="Arial MT"/>
                <a:cs typeface="Arial MT"/>
                <a:sym typeface="+mn-ea"/>
              </a:rPr>
              <a:t>—</a:t>
            </a:r>
            <a:r>
              <a:rPr sz="2400" spc="-25" dirty="0">
                <a:latin typeface="Arial MT"/>
                <a:cs typeface="Arial MT"/>
                <a:sym typeface="+mn-ea"/>
              </a:rPr>
              <a:t> </a:t>
            </a:r>
            <a:r>
              <a:rPr sz="2400" spc="-85" dirty="0">
                <a:latin typeface="Arial MT"/>
                <a:cs typeface="Arial MT"/>
                <a:sym typeface="+mn-ea"/>
              </a:rPr>
              <a:t>Practical</a:t>
            </a:r>
            <a:r>
              <a:rPr sz="2400" spc="-95" dirty="0">
                <a:latin typeface="Arial MT"/>
                <a:cs typeface="Arial MT"/>
                <a:sym typeface="+mn-ea"/>
              </a:rPr>
              <a:t> </a:t>
            </a:r>
            <a:r>
              <a:rPr sz="2400" spc="-100" dirty="0">
                <a:latin typeface="Arial MT"/>
                <a:cs typeface="Arial MT"/>
                <a:sym typeface="+mn-ea"/>
              </a:rPr>
              <a:t>Extraction</a:t>
            </a:r>
            <a:r>
              <a:rPr sz="2400" spc="-80" dirty="0">
                <a:latin typeface="Arial MT"/>
                <a:cs typeface="Arial MT"/>
                <a:sym typeface="+mn-ea"/>
              </a:rPr>
              <a:t> </a:t>
            </a:r>
            <a:r>
              <a:rPr sz="2400" spc="-120" dirty="0">
                <a:latin typeface="Arial MT"/>
                <a:cs typeface="Arial MT"/>
                <a:sym typeface="+mn-ea"/>
              </a:rPr>
              <a:t>and</a:t>
            </a:r>
            <a:r>
              <a:rPr sz="2400" spc="-60" dirty="0">
                <a:latin typeface="Arial MT"/>
                <a:cs typeface="Arial MT"/>
                <a:sym typeface="+mn-ea"/>
              </a:rPr>
              <a:t> </a:t>
            </a:r>
            <a:r>
              <a:rPr sz="2400" spc="-105" dirty="0">
                <a:latin typeface="Arial MT"/>
                <a:cs typeface="Arial MT"/>
                <a:sym typeface="+mn-ea"/>
              </a:rPr>
              <a:t>Reporting</a:t>
            </a:r>
            <a:r>
              <a:rPr sz="2400" spc="-10" dirty="0">
                <a:latin typeface="Arial MT"/>
                <a:cs typeface="Arial MT"/>
                <a:sym typeface="+mn-ea"/>
              </a:rPr>
              <a:t> </a:t>
            </a:r>
            <a:r>
              <a:rPr sz="2400" spc="-30" dirty="0">
                <a:latin typeface="Arial MT"/>
                <a:cs typeface="Arial MT"/>
                <a:sym typeface="+mn-ea"/>
              </a:rPr>
              <a:t>Language</a:t>
            </a:r>
            <a:endParaRPr sz="2400">
              <a:latin typeface="Arial MT"/>
              <a:cs typeface="Arial MT"/>
            </a:endParaRPr>
          </a:p>
          <a:p>
            <a:pPr>
              <a:lnSpc>
                <a:spcPct val="100000"/>
              </a:lnSpc>
              <a:spcBef>
                <a:spcPts val="235"/>
              </a:spcBef>
            </a:pPr>
            <a:r>
              <a:rPr sz="2000" spc="60" dirty="0">
                <a:solidFill>
                  <a:srgbClr val="7C7C7C"/>
                </a:solidFill>
                <a:latin typeface="Arial MT"/>
                <a:cs typeface="Arial MT"/>
                <a:sym typeface="+mn-ea"/>
              </a:rPr>
              <a:t>+</a:t>
            </a:r>
            <a:r>
              <a:rPr sz="2000" spc="135" dirty="0">
                <a:solidFill>
                  <a:srgbClr val="7C7C7C"/>
                </a:solidFill>
                <a:latin typeface="Arial MT"/>
                <a:cs typeface="Arial MT"/>
                <a:sym typeface="+mn-ea"/>
              </a:rPr>
              <a:t> </a:t>
            </a:r>
            <a:r>
              <a:rPr sz="2000" spc="-240" dirty="0">
                <a:latin typeface="Arial MT"/>
                <a:cs typeface="Arial MT"/>
                <a:sym typeface="+mn-ea"/>
              </a:rPr>
              <a:t>A</a:t>
            </a:r>
            <a:r>
              <a:rPr sz="2000" spc="-165" dirty="0">
                <a:latin typeface="Arial MT"/>
                <a:cs typeface="Arial MT"/>
                <a:sym typeface="+mn-ea"/>
              </a:rPr>
              <a:t> </a:t>
            </a:r>
            <a:r>
              <a:rPr sz="2000" spc="-120" dirty="0">
                <a:latin typeface="Arial MT"/>
                <a:cs typeface="Arial MT"/>
                <a:sym typeface="+mn-ea"/>
              </a:rPr>
              <a:t>procedure</a:t>
            </a:r>
            <a:r>
              <a:rPr sz="2000" dirty="0">
                <a:latin typeface="Arial MT"/>
                <a:cs typeface="Arial MT"/>
                <a:sym typeface="+mn-ea"/>
              </a:rPr>
              <a:t> </a:t>
            </a:r>
            <a:r>
              <a:rPr sz="2000" spc="-120" dirty="0">
                <a:latin typeface="Arial MT"/>
                <a:cs typeface="Arial MT"/>
                <a:sym typeface="+mn-ea"/>
              </a:rPr>
              <a:t>based</a:t>
            </a:r>
            <a:r>
              <a:rPr sz="2000" spc="-35" dirty="0">
                <a:latin typeface="Arial MT"/>
                <a:cs typeface="Arial MT"/>
                <a:sym typeface="+mn-ea"/>
              </a:rPr>
              <a:t> </a:t>
            </a:r>
            <a:r>
              <a:rPr sz="2000" spc="-114" dirty="0">
                <a:latin typeface="Arial MT"/>
                <a:cs typeface="Arial MT"/>
                <a:sym typeface="+mn-ea"/>
              </a:rPr>
              <a:t>language</a:t>
            </a:r>
            <a:r>
              <a:rPr sz="2000" spc="50" dirty="0">
                <a:latin typeface="Arial MT"/>
                <a:cs typeface="Arial MT"/>
                <a:sym typeface="+mn-ea"/>
              </a:rPr>
              <a:t> </a:t>
            </a:r>
            <a:r>
              <a:rPr sz="2000" spc="-120" dirty="0">
                <a:latin typeface="Arial MT"/>
                <a:cs typeface="Arial MT"/>
                <a:sym typeface="+mn-ea"/>
              </a:rPr>
              <a:t>with</a:t>
            </a:r>
            <a:r>
              <a:rPr sz="2000" spc="-15" dirty="0">
                <a:latin typeface="Arial MT"/>
                <a:cs typeface="Arial MT"/>
                <a:sym typeface="+mn-ea"/>
              </a:rPr>
              <a:t> </a:t>
            </a:r>
            <a:r>
              <a:rPr sz="2000" spc="-114" dirty="0">
                <a:latin typeface="Arial MT"/>
                <a:cs typeface="Arial MT"/>
                <a:sym typeface="+mn-ea"/>
              </a:rPr>
              <a:t>support</a:t>
            </a:r>
            <a:r>
              <a:rPr sz="2000" spc="40" dirty="0">
                <a:latin typeface="Arial MT"/>
                <a:cs typeface="Arial MT"/>
                <a:sym typeface="+mn-ea"/>
              </a:rPr>
              <a:t> </a:t>
            </a:r>
            <a:r>
              <a:rPr sz="2000" spc="-85" dirty="0">
                <a:latin typeface="Arial MT"/>
                <a:cs typeface="Arial MT"/>
                <a:sym typeface="+mn-ea"/>
              </a:rPr>
              <a:t>for</a:t>
            </a:r>
            <a:r>
              <a:rPr sz="2000" spc="-20" dirty="0">
                <a:latin typeface="Arial MT"/>
                <a:cs typeface="Arial MT"/>
                <a:sym typeface="+mn-ea"/>
              </a:rPr>
              <a:t> </a:t>
            </a:r>
            <a:r>
              <a:rPr sz="2000" spc="-10" dirty="0">
                <a:latin typeface="Arial MT"/>
                <a:cs typeface="Arial MT"/>
                <a:sym typeface="+mn-ea"/>
              </a:rPr>
              <a:t>objects</a:t>
            </a:r>
            <a:endParaRPr sz="2000">
              <a:latin typeface="Arial MT"/>
              <a:cs typeface="Arial MT"/>
            </a:endParaRPr>
          </a:p>
          <a:p>
            <a:pPr>
              <a:lnSpc>
                <a:spcPct val="100000"/>
              </a:lnSpc>
              <a:spcBef>
                <a:spcPts val="255"/>
              </a:spcBef>
            </a:pPr>
            <a:r>
              <a:rPr sz="2000" spc="110" dirty="0">
                <a:solidFill>
                  <a:srgbClr val="7E7E7E"/>
                </a:solidFill>
                <a:latin typeface="Arial MT"/>
                <a:cs typeface="Arial MT"/>
                <a:sym typeface="+mn-ea"/>
              </a:rPr>
              <a:t>+</a:t>
            </a:r>
            <a:r>
              <a:rPr sz="2000" spc="80" dirty="0">
                <a:solidFill>
                  <a:srgbClr val="7E7E7E"/>
                </a:solidFill>
                <a:latin typeface="Arial MT"/>
                <a:cs typeface="Arial MT"/>
                <a:sym typeface="+mn-ea"/>
              </a:rPr>
              <a:t> </a:t>
            </a:r>
            <a:r>
              <a:rPr sz="2000" spc="-95" dirty="0">
                <a:latin typeface="Arial MT"/>
                <a:cs typeface="Arial MT"/>
                <a:sym typeface="+mn-ea"/>
              </a:rPr>
              <a:t>Extensive</a:t>
            </a:r>
            <a:r>
              <a:rPr sz="2000" spc="45" dirty="0">
                <a:latin typeface="Arial MT"/>
                <a:cs typeface="Arial MT"/>
                <a:sym typeface="+mn-ea"/>
              </a:rPr>
              <a:t> </a:t>
            </a:r>
            <a:r>
              <a:rPr sz="2000" spc="-70" dirty="0">
                <a:latin typeface="Arial MT"/>
                <a:cs typeface="Arial MT"/>
                <a:sym typeface="+mn-ea"/>
              </a:rPr>
              <a:t>text</a:t>
            </a:r>
            <a:r>
              <a:rPr sz="2000" spc="-60" dirty="0">
                <a:latin typeface="Arial MT"/>
                <a:cs typeface="Arial MT"/>
                <a:sym typeface="+mn-ea"/>
              </a:rPr>
              <a:t> </a:t>
            </a:r>
            <a:r>
              <a:rPr sz="2000" spc="-90" dirty="0">
                <a:latin typeface="Arial MT"/>
                <a:cs typeface="Arial MT"/>
                <a:sym typeface="+mn-ea"/>
              </a:rPr>
              <a:t>processing</a:t>
            </a:r>
            <a:r>
              <a:rPr sz="2000" spc="10" dirty="0">
                <a:latin typeface="Arial MT"/>
                <a:cs typeface="Arial MT"/>
                <a:sym typeface="+mn-ea"/>
              </a:rPr>
              <a:t> </a:t>
            </a:r>
            <a:r>
              <a:rPr sz="2000" spc="-75" dirty="0">
                <a:latin typeface="Arial MT"/>
                <a:cs typeface="Arial MT"/>
                <a:sym typeface="+mn-ea"/>
              </a:rPr>
              <a:t>capabilities</a:t>
            </a:r>
            <a:r>
              <a:rPr sz="2000" spc="110" dirty="0">
                <a:latin typeface="Arial MT"/>
                <a:cs typeface="Arial MT"/>
                <a:sym typeface="+mn-ea"/>
              </a:rPr>
              <a:t> </a:t>
            </a:r>
            <a:r>
              <a:rPr sz="2000" spc="-105" dirty="0">
                <a:latin typeface="Arial MT"/>
                <a:cs typeface="Arial MT"/>
                <a:sym typeface="+mn-ea"/>
              </a:rPr>
              <a:t>and</a:t>
            </a:r>
            <a:r>
              <a:rPr sz="2000" spc="-45" dirty="0">
                <a:latin typeface="Arial MT"/>
                <a:cs typeface="Arial MT"/>
                <a:sym typeface="+mn-ea"/>
              </a:rPr>
              <a:t> </a:t>
            </a:r>
            <a:r>
              <a:rPr sz="2000" spc="-75" dirty="0">
                <a:latin typeface="Arial MT"/>
                <a:cs typeface="Arial MT"/>
                <a:sym typeface="+mn-ea"/>
              </a:rPr>
              <a:t>regular</a:t>
            </a:r>
            <a:r>
              <a:rPr sz="2000" spc="35" dirty="0">
                <a:latin typeface="Arial MT"/>
                <a:cs typeface="Arial MT"/>
                <a:sym typeface="+mn-ea"/>
              </a:rPr>
              <a:t> </a:t>
            </a:r>
            <a:r>
              <a:rPr sz="2000" spc="-55" dirty="0">
                <a:latin typeface="Arial MT"/>
                <a:cs typeface="Arial MT"/>
                <a:sym typeface="+mn-ea"/>
              </a:rPr>
              <a:t>expressions</a:t>
            </a:r>
            <a:endParaRPr sz="2000">
              <a:latin typeface="Arial MT"/>
              <a:cs typeface="Arial MT"/>
            </a:endParaRPr>
          </a:p>
          <a:p>
            <a:pPr>
              <a:lnSpc>
                <a:spcPct val="100000"/>
              </a:lnSpc>
              <a:spcBef>
                <a:spcPts val="355"/>
              </a:spcBef>
              <a:tabLst>
                <a:tab pos="759460" algn="l"/>
              </a:tabLst>
            </a:pPr>
            <a:r>
              <a:rPr sz="2000" spc="-50" dirty="0">
                <a:solidFill>
                  <a:srgbClr val="757575"/>
                </a:solidFill>
                <a:latin typeface="Arial MT"/>
                <a:cs typeface="Arial MT"/>
                <a:sym typeface="+mn-ea"/>
              </a:rPr>
              <a:t>+</a:t>
            </a:r>
            <a:r>
              <a:rPr lang="en-US" sz="2000" spc="-50" dirty="0">
                <a:solidFill>
                  <a:srgbClr val="757575"/>
                </a:solidFill>
                <a:latin typeface="Arial MT"/>
                <a:cs typeface="Arial MT"/>
                <a:sym typeface="+mn-ea"/>
              </a:rPr>
              <a:t> </a:t>
            </a:r>
            <a:r>
              <a:rPr sz="2000" spc="-50" dirty="0">
                <a:latin typeface="Arial MT"/>
                <a:cs typeface="Arial MT"/>
                <a:sym typeface="+mn-ea"/>
              </a:rPr>
              <a:t>Extensible</a:t>
            </a:r>
            <a:r>
              <a:rPr sz="2000" spc="-15" dirty="0">
                <a:latin typeface="Arial MT"/>
                <a:cs typeface="Arial MT"/>
                <a:sym typeface="+mn-ea"/>
              </a:rPr>
              <a:t> </a:t>
            </a:r>
            <a:r>
              <a:rPr sz="2000" spc="-35" dirty="0">
                <a:latin typeface="Arial MT"/>
                <a:cs typeface="Arial MT"/>
                <a:sym typeface="+mn-ea"/>
              </a:rPr>
              <a:t>using</a:t>
            </a:r>
            <a:r>
              <a:rPr sz="2000" spc="-105" dirty="0">
                <a:latin typeface="Arial MT"/>
                <a:cs typeface="Arial MT"/>
                <a:sym typeface="+mn-ea"/>
              </a:rPr>
              <a:t> </a:t>
            </a:r>
            <a:r>
              <a:rPr sz="2000" spc="-10" dirty="0">
                <a:latin typeface="Arial MT"/>
                <a:cs typeface="Arial MT"/>
                <a:sym typeface="+mn-ea"/>
              </a:rPr>
              <a:t>modules</a:t>
            </a:r>
            <a:endParaRPr sz="2000">
              <a:latin typeface="Arial MT"/>
              <a:cs typeface="Arial MT"/>
            </a:endParaRPr>
          </a:p>
          <a:p>
            <a:pPr>
              <a:lnSpc>
                <a:spcPct val="100000"/>
              </a:lnSpc>
              <a:spcBef>
                <a:spcPts val="360"/>
              </a:spcBef>
              <a:tabLst>
                <a:tab pos="758190" algn="l"/>
              </a:tabLst>
            </a:pPr>
            <a:r>
              <a:rPr sz="2000" spc="-50" dirty="0">
                <a:solidFill>
                  <a:srgbClr val="777777"/>
                </a:solidFill>
                <a:latin typeface="Arial MT"/>
                <a:cs typeface="Arial MT"/>
                <a:sym typeface="+mn-ea"/>
              </a:rPr>
              <a:t>+</a:t>
            </a:r>
            <a:r>
              <a:rPr lang="en-US" sz="2000" spc="-50" dirty="0">
                <a:solidFill>
                  <a:srgbClr val="777777"/>
                </a:solidFill>
                <a:latin typeface="Arial MT"/>
                <a:cs typeface="Arial MT"/>
                <a:sym typeface="+mn-ea"/>
              </a:rPr>
              <a:t> </a:t>
            </a:r>
            <a:r>
              <a:rPr sz="2000" spc="-114" dirty="0">
                <a:latin typeface="Arial MT"/>
                <a:cs typeface="Arial MT"/>
                <a:sym typeface="+mn-ea"/>
              </a:rPr>
              <a:t>C</a:t>
            </a:r>
            <a:r>
              <a:rPr sz="2000" spc="-60" dirty="0">
                <a:latin typeface="Arial MT"/>
                <a:cs typeface="Arial MT"/>
                <a:sym typeface="+mn-ea"/>
              </a:rPr>
              <a:t> </a:t>
            </a:r>
            <a:r>
              <a:rPr sz="2000" spc="-20" dirty="0">
                <a:latin typeface="Arial MT"/>
                <a:cs typeface="Arial MT"/>
                <a:sym typeface="+mn-ea"/>
              </a:rPr>
              <a:t>based</a:t>
            </a:r>
            <a:r>
              <a:rPr sz="2000" spc="-130" dirty="0">
                <a:latin typeface="Arial MT"/>
                <a:cs typeface="Arial MT"/>
                <a:sym typeface="+mn-ea"/>
              </a:rPr>
              <a:t> </a:t>
            </a:r>
            <a:r>
              <a:rPr sz="2000" spc="-45" dirty="0">
                <a:latin typeface="Arial MT"/>
                <a:cs typeface="Arial MT"/>
                <a:sym typeface="+mn-ea"/>
              </a:rPr>
              <a:t>syntax</a:t>
            </a:r>
            <a:r>
              <a:rPr sz="2000" spc="-100" dirty="0">
                <a:latin typeface="Arial MT"/>
                <a:cs typeface="Arial MT"/>
                <a:sym typeface="+mn-ea"/>
              </a:rPr>
              <a:t> </a:t>
            </a:r>
            <a:r>
              <a:rPr sz="2000" spc="-60" dirty="0">
                <a:latin typeface="Arial MT"/>
                <a:cs typeface="Arial MT"/>
                <a:sym typeface="+mn-ea"/>
              </a:rPr>
              <a:t>with</a:t>
            </a:r>
            <a:r>
              <a:rPr sz="2000" spc="-90" dirty="0">
                <a:latin typeface="Arial MT"/>
                <a:cs typeface="Arial MT"/>
                <a:sym typeface="+mn-ea"/>
              </a:rPr>
              <a:t> </a:t>
            </a:r>
            <a:r>
              <a:rPr sz="2000" spc="-30" dirty="0">
                <a:latin typeface="Arial MT"/>
                <a:cs typeface="Arial MT"/>
                <a:sym typeface="+mn-ea"/>
              </a:rPr>
              <a:t>plethora</a:t>
            </a:r>
            <a:r>
              <a:rPr sz="2000" spc="-90" dirty="0">
                <a:latin typeface="Arial MT"/>
                <a:cs typeface="Arial MT"/>
                <a:sym typeface="+mn-ea"/>
              </a:rPr>
              <a:t> </a:t>
            </a:r>
            <a:r>
              <a:rPr sz="2000" dirty="0">
                <a:latin typeface="Arial MT"/>
                <a:cs typeface="Arial MT"/>
                <a:sym typeface="+mn-ea"/>
              </a:rPr>
              <a:t>of</a:t>
            </a:r>
            <a:r>
              <a:rPr sz="2000" spc="-10" dirty="0">
                <a:latin typeface="Arial MT"/>
                <a:cs typeface="Arial MT"/>
                <a:sym typeface="+mn-ea"/>
              </a:rPr>
              <a:t> symbols</a:t>
            </a:r>
            <a:endParaRPr sz="2000">
              <a:latin typeface="Arial MT"/>
              <a:cs typeface="Arial MT"/>
            </a:endParaRPr>
          </a:p>
          <a:p>
            <a:pPr>
              <a:lnSpc>
                <a:spcPct val="100000"/>
              </a:lnSpc>
              <a:spcBef>
                <a:spcPts val="465"/>
              </a:spcBef>
            </a:pPr>
            <a:r>
              <a:rPr sz="2000" spc="-50" dirty="0">
                <a:solidFill>
                  <a:srgbClr val="777777"/>
                </a:solidFill>
                <a:latin typeface="Arial MT"/>
                <a:cs typeface="Arial MT"/>
                <a:sym typeface="+mn-ea"/>
              </a:rPr>
              <a:t>+</a:t>
            </a:r>
            <a:r>
              <a:rPr lang="en-US" sz="2000" spc="-50" dirty="0">
                <a:solidFill>
                  <a:srgbClr val="777777"/>
                </a:solidFill>
                <a:latin typeface="Arial MT"/>
                <a:cs typeface="Arial MT"/>
                <a:sym typeface="+mn-ea"/>
              </a:rPr>
              <a:t> </a:t>
            </a:r>
            <a:r>
              <a:rPr sz="2000" dirty="0">
                <a:latin typeface="Arial MT"/>
                <a:cs typeface="Arial MT"/>
                <a:sym typeface="+mn-ea"/>
              </a:rPr>
              <a:t>Developed</a:t>
            </a:r>
            <a:r>
              <a:rPr sz="2000" spc="40" dirty="0">
                <a:latin typeface="Arial MT"/>
                <a:cs typeface="Arial MT"/>
                <a:sym typeface="+mn-ea"/>
              </a:rPr>
              <a:t> </a:t>
            </a:r>
            <a:r>
              <a:rPr sz="2000" dirty="0">
                <a:latin typeface="Arial MT"/>
                <a:cs typeface="Arial MT"/>
                <a:sym typeface="+mn-ea"/>
              </a:rPr>
              <a:t>in</a:t>
            </a:r>
            <a:r>
              <a:rPr sz="2000" spc="-30" dirty="0">
                <a:latin typeface="Arial MT"/>
                <a:cs typeface="Arial MT"/>
                <a:sym typeface="+mn-ea"/>
              </a:rPr>
              <a:t> </a:t>
            </a:r>
            <a:r>
              <a:rPr sz="2000" dirty="0">
                <a:latin typeface="Arial MT"/>
                <a:cs typeface="Arial MT"/>
                <a:sym typeface="+mn-ea"/>
              </a:rPr>
              <a:t>late</a:t>
            </a:r>
            <a:r>
              <a:rPr sz="2000" spc="-75" dirty="0">
                <a:latin typeface="Arial MT"/>
                <a:cs typeface="Arial MT"/>
                <a:sym typeface="+mn-ea"/>
              </a:rPr>
              <a:t> </a:t>
            </a:r>
            <a:r>
              <a:rPr sz="2000" spc="-10" dirty="0">
                <a:latin typeface="Arial MT"/>
                <a:cs typeface="Arial MT"/>
                <a:sym typeface="+mn-ea"/>
              </a:rPr>
              <a:t>1980’s</a:t>
            </a:r>
          </a:p>
          <a:p>
            <a:pPr marL="0" indent="0">
              <a:lnSpc>
                <a:spcPct val="100000"/>
              </a:lnSpc>
              <a:spcBef>
                <a:spcPts val="465"/>
              </a:spcBef>
              <a:buNone/>
            </a:pPr>
            <a:endParaRPr sz="2000">
              <a:latin typeface="Arial MT"/>
              <a:cs typeface="Arial MT"/>
            </a:endParaRPr>
          </a:p>
          <a:p>
            <a:pPr>
              <a:lnSpc>
                <a:spcPct val="100000"/>
              </a:lnSpc>
              <a:spcBef>
                <a:spcPts val="510"/>
              </a:spcBef>
              <a:tabLst>
                <a:tab pos="362585" algn="l"/>
              </a:tabLst>
            </a:pPr>
            <a:r>
              <a:rPr sz="2400" spc="-50" dirty="0">
                <a:latin typeface="Arial MT"/>
                <a:cs typeface="Arial MT"/>
                <a:sym typeface="+mn-ea"/>
              </a:rPr>
              <a:t>Python</a:t>
            </a:r>
            <a:r>
              <a:rPr sz="2400" spc="-80" dirty="0">
                <a:latin typeface="Arial MT"/>
                <a:cs typeface="Arial MT"/>
                <a:sym typeface="+mn-ea"/>
              </a:rPr>
              <a:t> </a:t>
            </a:r>
            <a:r>
              <a:rPr sz="2400" spc="-60" dirty="0">
                <a:latin typeface="Arial MT"/>
                <a:cs typeface="Arial MT"/>
                <a:sym typeface="+mn-ea"/>
              </a:rPr>
              <a:t>(also</a:t>
            </a:r>
            <a:r>
              <a:rPr sz="2400" spc="-114" dirty="0">
                <a:latin typeface="Arial MT"/>
                <a:cs typeface="Arial MT"/>
                <a:sym typeface="+mn-ea"/>
              </a:rPr>
              <a:t> </a:t>
            </a:r>
            <a:r>
              <a:rPr sz="2400" spc="-10" dirty="0">
                <a:latin typeface="Arial MT"/>
                <a:cs typeface="Arial MT"/>
                <a:sym typeface="+mn-ea"/>
              </a:rPr>
              <a:t>Jython)</a:t>
            </a:r>
            <a:endParaRPr sz="2400">
              <a:latin typeface="Arial MT"/>
              <a:cs typeface="Arial MT"/>
            </a:endParaRPr>
          </a:p>
          <a:p>
            <a:pPr>
              <a:lnSpc>
                <a:spcPct val="100000"/>
              </a:lnSpc>
              <a:spcBef>
                <a:spcPts val="250"/>
              </a:spcBef>
            </a:pPr>
            <a:r>
              <a:rPr sz="2000" spc="60" dirty="0">
                <a:solidFill>
                  <a:srgbClr val="7E7E7E"/>
                </a:solidFill>
                <a:latin typeface="Arial MT"/>
                <a:cs typeface="Arial MT"/>
                <a:sym typeface="+mn-ea"/>
              </a:rPr>
              <a:t>+</a:t>
            </a:r>
            <a:r>
              <a:rPr sz="2000" spc="135" dirty="0">
                <a:solidFill>
                  <a:srgbClr val="7E7E7E"/>
                </a:solidFill>
                <a:latin typeface="Arial MT"/>
                <a:cs typeface="Arial MT"/>
                <a:sym typeface="+mn-ea"/>
              </a:rPr>
              <a:t> </a:t>
            </a:r>
            <a:r>
              <a:rPr sz="2000" spc="-185" dirty="0">
                <a:latin typeface="Arial MT"/>
                <a:cs typeface="Arial MT"/>
                <a:sym typeface="+mn-ea"/>
              </a:rPr>
              <a:t>An</a:t>
            </a:r>
            <a:r>
              <a:rPr sz="2000" spc="-5" dirty="0">
                <a:latin typeface="Arial MT"/>
                <a:cs typeface="Arial MT"/>
                <a:sym typeface="+mn-ea"/>
              </a:rPr>
              <a:t> </a:t>
            </a:r>
            <a:r>
              <a:rPr sz="2000" spc="-105" dirty="0">
                <a:latin typeface="Arial MT"/>
                <a:cs typeface="Arial MT"/>
                <a:sym typeface="+mn-ea"/>
              </a:rPr>
              <a:t>object</a:t>
            </a:r>
            <a:r>
              <a:rPr sz="2000" spc="25" dirty="0">
                <a:latin typeface="Arial MT"/>
                <a:cs typeface="Arial MT"/>
                <a:sym typeface="+mn-ea"/>
              </a:rPr>
              <a:t> </a:t>
            </a:r>
            <a:r>
              <a:rPr sz="2000" spc="-105" dirty="0">
                <a:latin typeface="Arial MT"/>
                <a:cs typeface="Arial MT"/>
                <a:sym typeface="+mn-ea"/>
              </a:rPr>
              <a:t>oriented</a:t>
            </a:r>
            <a:r>
              <a:rPr sz="2000" spc="-5" dirty="0">
                <a:latin typeface="Arial MT"/>
                <a:cs typeface="Arial MT"/>
                <a:sym typeface="+mn-ea"/>
              </a:rPr>
              <a:t> </a:t>
            </a:r>
            <a:r>
              <a:rPr sz="2000" spc="-125" dirty="0">
                <a:latin typeface="Arial MT"/>
                <a:cs typeface="Arial MT"/>
                <a:sym typeface="+mn-ea"/>
              </a:rPr>
              <a:t>language</a:t>
            </a:r>
            <a:r>
              <a:rPr sz="2000" spc="65" dirty="0">
                <a:latin typeface="Arial MT"/>
                <a:cs typeface="Arial MT"/>
                <a:sym typeface="+mn-ea"/>
              </a:rPr>
              <a:t> </a:t>
            </a:r>
            <a:r>
              <a:rPr sz="2000" spc="-90" dirty="0">
                <a:latin typeface="Arial MT"/>
                <a:cs typeface="Arial MT"/>
                <a:sym typeface="+mn-ea"/>
              </a:rPr>
              <a:t>with</a:t>
            </a:r>
            <a:r>
              <a:rPr sz="2000" spc="-20" dirty="0">
                <a:latin typeface="Arial MT"/>
                <a:cs typeface="Arial MT"/>
                <a:sym typeface="+mn-ea"/>
              </a:rPr>
              <a:t> </a:t>
            </a:r>
            <a:r>
              <a:rPr sz="2000" spc="-170" dirty="0">
                <a:latin typeface="Arial MT"/>
                <a:cs typeface="Arial MT"/>
                <a:sym typeface="+mn-ea"/>
              </a:rPr>
              <a:t>some</a:t>
            </a:r>
            <a:r>
              <a:rPr sz="2000" spc="15" dirty="0">
                <a:latin typeface="Arial MT"/>
                <a:cs typeface="Arial MT"/>
                <a:sym typeface="+mn-ea"/>
              </a:rPr>
              <a:t> </a:t>
            </a:r>
            <a:r>
              <a:rPr sz="2000" spc="-120" dirty="0">
                <a:latin typeface="Arial MT"/>
                <a:cs typeface="Arial MT"/>
                <a:sym typeface="+mn-ea"/>
              </a:rPr>
              <a:t>procedure</a:t>
            </a:r>
            <a:r>
              <a:rPr sz="2000" spc="25" dirty="0">
                <a:latin typeface="Arial MT"/>
                <a:cs typeface="Arial MT"/>
                <a:sym typeface="+mn-ea"/>
              </a:rPr>
              <a:t> </a:t>
            </a:r>
            <a:r>
              <a:rPr sz="2000" spc="-10" dirty="0">
                <a:latin typeface="Arial MT"/>
                <a:cs typeface="Arial MT"/>
                <a:sym typeface="+mn-ea"/>
              </a:rPr>
              <a:t>traits</a:t>
            </a:r>
            <a:endParaRPr sz="2000">
              <a:latin typeface="Arial MT"/>
              <a:cs typeface="Arial MT"/>
            </a:endParaRPr>
          </a:p>
          <a:p>
            <a:pPr>
              <a:lnSpc>
                <a:spcPct val="100000"/>
              </a:lnSpc>
              <a:spcBef>
                <a:spcPts val="360"/>
              </a:spcBef>
              <a:tabLst>
                <a:tab pos="759460" algn="l"/>
              </a:tabLst>
            </a:pPr>
            <a:r>
              <a:rPr sz="2000" spc="-50" dirty="0">
                <a:solidFill>
                  <a:srgbClr val="7C7C7C"/>
                </a:solidFill>
                <a:latin typeface="Arial MT"/>
                <a:cs typeface="Arial MT"/>
                <a:sym typeface="+mn-ea"/>
              </a:rPr>
              <a:t>+</a:t>
            </a:r>
            <a:r>
              <a:rPr lang="en-US" sz="2000" spc="-50" dirty="0">
                <a:solidFill>
                  <a:srgbClr val="7C7C7C"/>
                </a:solidFill>
                <a:latin typeface="Arial MT"/>
                <a:cs typeface="Arial MT"/>
                <a:sym typeface="+mn-ea"/>
              </a:rPr>
              <a:t> </a:t>
            </a:r>
            <a:r>
              <a:rPr sz="2000" spc="-10" dirty="0">
                <a:latin typeface="Arial MT"/>
                <a:cs typeface="Arial MT"/>
                <a:sym typeface="+mn-ea"/>
              </a:rPr>
              <a:t>Extensible</a:t>
            </a:r>
            <a:endParaRPr sz="2000">
              <a:latin typeface="Arial MT"/>
              <a:cs typeface="Arial MT"/>
            </a:endParaRPr>
          </a:p>
          <a:p>
            <a:pPr>
              <a:lnSpc>
                <a:spcPct val="100000"/>
              </a:lnSpc>
              <a:spcBef>
                <a:spcPts val="375"/>
              </a:spcBef>
              <a:tabLst>
                <a:tab pos="762635" algn="l"/>
              </a:tabLst>
            </a:pPr>
            <a:r>
              <a:rPr sz="2000" spc="-50" dirty="0">
                <a:solidFill>
                  <a:srgbClr val="7C7C7C"/>
                </a:solidFill>
                <a:latin typeface="Arial MT"/>
                <a:cs typeface="Arial MT"/>
                <a:sym typeface="+mn-ea"/>
              </a:rPr>
              <a:t>+</a:t>
            </a:r>
            <a:r>
              <a:rPr lang="en-US" sz="2000" spc="-50" dirty="0">
                <a:solidFill>
                  <a:srgbClr val="7C7C7C"/>
                </a:solidFill>
                <a:latin typeface="Arial MT"/>
                <a:cs typeface="Arial MT"/>
                <a:sym typeface="+mn-ea"/>
              </a:rPr>
              <a:t> </a:t>
            </a:r>
            <a:r>
              <a:rPr sz="2000" spc="-175" dirty="0">
                <a:latin typeface="Arial MT"/>
                <a:cs typeface="Arial MT"/>
                <a:sym typeface="+mn-ea"/>
              </a:rPr>
              <a:t>A</a:t>
            </a:r>
            <a:r>
              <a:rPr sz="2000" spc="-85" dirty="0">
                <a:latin typeface="Arial MT"/>
                <a:cs typeface="Arial MT"/>
                <a:sym typeface="+mn-ea"/>
              </a:rPr>
              <a:t> </a:t>
            </a:r>
            <a:r>
              <a:rPr sz="2000" spc="-40" dirty="0">
                <a:latin typeface="Arial MT"/>
                <a:cs typeface="Arial MT"/>
                <a:sym typeface="+mn-ea"/>
              </a:rPr>
              <a:t>format</a:t>
            </a:r>
            <a:r>
              <a:rPr sz="2000" spc="-110" dirty="0">
                <a:latin typeface="Arial MT"/>
                <a:cs typeface="Arial MT"/>
                <a:sym typeface="+mn-ea"/>
              </a:rPr>
              <a:t> </a:t>
            </a:r>
            <a:r>
              <a:rPr sz="2000" spc="-35" dirty="0">
                <a:latin typeface="Arial MT"/>
                <a:cs typeface="Arial MT"/>
                <a:sym typeface="+mn-ea"/>
              </a:rPr>
              <a:t>based</a:t>
            </a:r>
            <a:r>
              <a:rPr sz="2000" spc="-90" dirty="0">
                <a:latin typeface="Arial MT"/>
                <a:cs typeface="Arial MT"/>
                <a:sym typeface="+mn-ea"/>
              </a:rPr>
              <a:t> </a:t>
            </a:r>
            <a:r>
              <a:rPr sz="2000" spc="-10" dirty="0">
                <a:latin typeface="Arial MT"/>
                <a:cs typeface="Arial MT"/>
                <a:sym typeface="+mn-ea"/>
              </a:rPr>
              <a:t>syntax</a:t>
            </a:r>
            <a:endParaRPr sz="2000">
              <a:latin typeface="Arial MT"/>
              <a:cs typeface="Arial MT"/>
            </a:endParaRPr>
          </a:p>
          <a:p>
            <a:pPr>
              <a:lnSpc>
                <a:spcPct val="100000"/>
              </a:lnSpc>
              <a:spcBef>
                <a:spcPts val="410"/>
              </a:spcBef>
              <a:tabLst>
                <a:tab pos="751205" algn="l"/>
              </a:tabLst>
            </a:pPr>
            <a:r>
              <a:rPr sz="2000" spc="-50" dirty="0">
                <a:solidFill>
                  <a:srgbClr val="7E7E7E"/>
                </a:solidFill>
                <a:latin typeface="Arial MT"/>
                <a:cs typeface="Arial MT"/>
                <a:sym typeface="+mn-ea"/>
              </a:rPr>
              <a:t>+</a:t>
            </a:r>
            <a:r>
              <a:rPr lang="en-US" sz="2000" spc="-50" dirty="0">
                <a:solidFill>
                  <a:srgbClr val="7E7E7E"/>
                </a:solidFill>
                <a:latin typeface="Arial MT"/>
                <a:cs typeface="Arial MT"/>
                <a:sym typeface="+mn-ea"/>
              </a:rPr>
              <a:t> </a:t>
            </a:r>
            <a:r>
              <a:rPr sz="2000" spc="-25" dirty="0">
                <a:latin typeface="Arial MT"/>
                <a:cs typeface="Arial MT"/>
                <a:sym typeface="+mn-ea"/>
              </a:rPr>
              <a:t>Developed</a:t>
            </a:r>
            <a:r>
              <a:rPr sz="2000" spc="15" dirty="0">
                <a:latin typeface="Arial MT"/>
                <a:cs typeface="Arial MT"/>
                <a:sym typeface="+mn-ea"/>
              </a:rPr>
              <a:t> </a:t>
            </a:r>
            <a:r>
              <a:rPr sz="2000" dirty="0">
                <a:latin typeface="Arial MT"/>
                <a:cs typeface="Arial MT"/>
                <a:sym typeface="+mn-ea"/>
              </a:rPr>
              <a:t>in</a:t>
            </a:r>
            <a:r>
              <a:rPr sz="2000" spc="-105" dirty="0">
                <a:latin typeface="Arial MT"/>
                <a:cs typeface="Arial MT"/>
                <a:sym typeface="+mn-ea"/>
              </a:rPr>
              <a:t> </a:t>
            </a:r>
            <a:r>
              <a:rPr sz="2000" spc="-10" dirty="0">
                <a:latin typeface="Arial MT"/>
                <a:cs typeface="Arial MT"/>
                <a:sym typeface="+mn-ea"/>
              </a:rPr>
              <a:t>early</a:t>
            </a:r>
            <a:r>
              <a:rPr sz="2000" spc="-75" dirty="0">
                <a:latin typeface="Arial MT"/>
                <a:cs typeface="Arial MT"/>
                <a:sym typeface="+mn-ea"/>
              </a:rPr>
              <a:t> </a:t>
            </a:r>
            <a:r>
              <a:rPr sz="2000" spc="-10" dirty="0">
                <a:latin typeface="Arial MT"/>
                <a:cs typeface="Arial MT"/>
                <a:sym typeface="+mn-ea"/>
              </a:rPr>
              <a:t>1990's</a:t>
            </a:r>
            <a:endParaRPr sz="2000">
              <a:latin typeface="Arial MT"/>
              <a:cs typeface="Arial MT"/>
            </a:endParaRPr>
          </a:p>
          <a:p>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Scripting Languages</a:t>
            </a:r>
          </a:p>
        </p:txBody>
      </p:sp>
      <p:sp>
        <p:nvSpPr>
          <p:cNvPr id="3" name="Content Placeholder 2"/>
          <p:cNvSpPr>
            <a:spLocks noGrp="1"/>
          </p:cNvSpPr>
          <p:nvPr>
            <p:ph idx="1"/>
          </p:nvPr>
        </p:nvSpPr>
        <p:spPr/>
        <p:txBody>
          <a:bodyPr/>
          <a:lstStyle/>
          <a:p>
            <a:pPr>
              <a:lnSpc>
                <a:spcPct val="100000"/>
              </a:lnSpc>
              <a:spcBef>
                <a:spcPts val="330"/>
              </a:spcBef>
              <a:tabLst>
                <a:tab pos="353060" algn="l"/>
              </a:tabLst>
            </a:pPr>
            <a:r>
              <a:rPr sz="2400" spc="-20" dirty="0">
                <a:latin typeface="Arial MT"/>
                <a:cs typeface="Arial MT"/>
                <a:sym typeface="+mn-ea"/>
              </a:rPr>
              <a:t>Other</a:t>
            </a:r>
            <a:r>
              <a:rPr sz="2400" spc="-140" dirty="0">
                <a:latin typeface="Arial MT"/>
                <a:cs typeface="Arial MT"/>
                <a:sym typeface="+mn-ea"/>
              </a:rPr>
              <a:t> </a:t>
            </a:r>
            <a:r>
              <a:rPr sz="2400" spc="-10" dirty="0">
                <a:latin typeface="Arial MT"/>
                <a:cs typeface="Arial MT"/>
                <a:sym typeface="+mn-ea"/>
              </a:rPr>
              <a:t>niche</a:t>
            </a:r>
            <a:r>
              <a:rPr sz="2400" spc="-45" dirty="0">
                <a:latin typeface="Arial MT"/>
                <a:cs typeface="Arial MT"/>
                <a:sym typeface="+mn-ea"/>
              </a:rPr>
              <a:t> </a:t>
            </a:r>
            <a:r>
              <a:rPr sz="2400" spc="-30" dirty="0">
                <a:latin typeface="Arial MT"/>
                <a:cs typeface="Arial MT"/>
                <a:sym typeface="+mn-ea"/>
              </a:rPr>
              <a:t>scripting</a:t>
            </a:r>
            <a:r>
              <a:rPr sz="2400" spc="-85" dirty="0">
                <a:latin typeface="Arial MT"/>
                <a:cs typeface="Arial MT"/>
                <a:sym typeface="+mn-ea"/>
              </a:rPr>
              <a:t> </a:t>
            </a:r>
            <a:r>
              <a:rPr sz="2400" spc="-10" dirty="0">
                <a:latin typeface="Arial MT"/>
                <a:cs typeface="Arial MT"/>
                <a:sym typeface="+mn-ea"/>
              </a:rPr>
              <a:t>languages</a:t>
            </a:r>
          </a:p>
          <a:p>
            <a:pPr marL="0" indent="0">
              <a:lnSpc>
                <a:spcPct val="100000"/>
              </a:lnSpc>
              <a:spcBef>
                <a:spcPts val="330"/>
              </a:spcBef>
              <a:buNone/>
              <a:tabLst>
                <a:tab pos="353060" algn="l"/>
              </a:tabLst>
            </a:pPr>
            <a:endParaRPr sz="2400">
              <a:latin typeface="Arial MT"/>
              <a:cs typeface="Arial MT"/>
            </a:endParaRPr>
          </a:p>
          <a:p>
            <a:pPr>
              <a:lnSpc>
                <a:spcPct val="100000"/>
              </a:lnSpc>
              <a:spcBef>
                <a:spcPts val="205"/>
              </a:spcBef>
              <a:tabLst>
                <a:tab pos="760095" algn="l"/>
              </a:tabLst>
            </a:pPr>
            <a:r>
              <a:rPr sz="2400" spc="-50" dirty="0">
                <a:solidFill>
                  <a:srgbClr val="7C7C7C"/>
                </a:solidFill>
                <a:latin typeface="Arial MT"/>
                <a:cs typeface="Arial MT"/>
                <a:sym typeface="+mn-ea"/>
              </a:rPr>
              <a:t>+</a:t>
            </a:r>
            <a:r>
              <a:rPr sz="2400" dirty="0">
                <a:solidFill>
                  <a:srgbClr val="7C7C7C"/>
                </a:solidFill>
                <a:latin typeface="Arial MT"/>
                <a:cs typeface="Arial MT"/>
                <a:sym typeface="+mn-ea"/>
              </a:rPr>
              <a:t>	</a:t>
            </a:r>
            <a:r>
              <a:rPr sz="2400" spc="-10" dirty="0">
                <a:latin typeface="Arial MT"/>
                <a:cs typeface="Arial MT"/>
                <a:sym typeface="+mn-ea"/>
              </a:rPr>
              <a:t>BeanShell</a:t>
            </a:r>
            <a:endParaRPr sz="2400">
              <a:latin typeface="Arial MT"/>
              <a:cs typeface="Arial MT"/>
            </a:endParaRPr>
          </a:p>
          <a:p>
            <a:pPr marL="457200" lvl="1" indent="457200">
              <a:lnSpc>
                <a:spcPct val="100000"/>
              </a:lnSpc>
              <a:spcBef>
                <a:spcPts val="130"/>
              </a:spcBef>
              <a:buNone/>
            </a:pPr>
            <a:r>
              <a:rPr sz="2400" spc="-30" dirty="0">
                <a:latin typeface="Arial MT"/>
                <a:cs typeface="Arial MT"/>
                <a:sym typeface="+mn-ea"/>
              </a:rPr>
              <a:t>Makes</a:t>
            </a:r>
            <a:r>
              <a:rPr sz="2400" spc="-10" dirty="0">
                <a:latin typeface="Arial MT"/>
                <a:cs typeface="Arial MT"/>
                <a:sym typeface="+mn-ea"/>
              </a:rPr>
              <a:t> </a:t>
            </a:r>
            <a:r>
              <a:rPr sz="2400" dirty="0">
                <a:latin typeface="Arial MT"/>
                <a:cs typeface="Arial MT"/>
                <a:sym typeface="+mn-ea"/>
              </a:rPr>
              <a:t>it</a:t>
            </a:r>
            <a:r>
              <a:rPr sz="2400" spc="-105" dirty="0">
                <a:latin typeface="Arial MT"/>
                <a:cs typeface="Arial MT"/>
                <a:sym typeface="+mn-ea"/>
              </a:rPr>
              <a:t> </a:t>
            </a:r>
            <a:r>
              <a:rPr sz="2400" spc="-25" dirty="0">
                <a:latin typeface="Arial MT"/>
                <a:cs typeface="Arial MT"/>
                <a:sym typeface="+mn-ea"/>
              </a:rPr>
              <a:t>possible</a:t>
            </a:r>
            <a:r>
              <a:rPr sz="2400" spc="10" dirty="0">
                <a:latin typeface="Arial MT"/>
                <a:cs typeface="Arial MT"/>
                <a:sym typeface="+mn-ea"/>
              </a:rPr>
              <a:t> </a:t>
            </a:r>
            <a:r>
              <a:rPr sz="2400" dirty="0">
                <a:latin typeface="Arial MT"/>
                <a:cs typeface="Arial MT"/>
                <a:sym typeface="+mn-ea"/>
              </a:rPr>
              <a:t>to</a:t>
            </a:r>
            <a:r>
              <a:rPr sz="2400" spc="-130" dirty="0">
                <a:latin typeface="Arial MT"/>
                <a:cs typeface="Arial MT"/>
                <a:sym typeface="+mn-ea"/>
              </a:rPr>
              <a:t> </a:t>
            </a:r>
            <a:r>
              <a:rPr sz="2400" dirty="0">
                <a:latin typeface="Arial MT"/>
                <a:cs typeface="Arial MT"/>
                <a:sym typeface="+mn-ea"/>
              </a:rPr>
              <a:t>use</a:t>
            </a:r>
            <a:r>
              <a:rPr sz="2400" spc="-60" dirty="0">
                <a:latin typeface="Arial MT"/>
                <a:cs typeface="Arial MT"/>
                <a:sym typeface="+mn-ea"/>
              </a:rPr>
              <a:t> </a:t>
            </a:r>
            <a:r>
              <a:rPr sz="2400" spc="-20" dirty="0">
                <a:latin typeface="Arial MT"/>
                <a:cs typeface="Arial MT"/>
                <a:sym typeface="+mn-ea"/>
              </a:rPr>
              <a:t>Java</a:t>
            </a:r>
            <a:r>
              <a:rPr sz="2400" spc="-110" dirty="0">
                <a:latin typeface="Arial MT"/>
                <a:cs typeface="Arial MT"/>
                <a:sym typeface="+mn-ea"/>
              </a:rPr>
              <a:t> </a:t>
            </a:r>
            <a:r>
              <a:rPr sz="2400" dirty="0">
                <a:latin typeface="Arial MT"/>
                <a:cs typeface="Arial MT"/>
                <a:sym typeface="+mn-ea"/>
              </a:rPr>
              <a:t>as</a:t>
            </a:r>
            <a:r>
              <a:rPr sz="2400" spc="-35" dirty="0">
                <a:latin typeface="Arial MT"/>
                <a:cs typeface="Arial MT"/>
                <a:sym typeface="+mn-ea"/>
              </a:rPr>
              <a:t> </a:t>
            </a:r>
            <a:r>
              <a:rPr sz="2400" dirty="0">
                <a:latin typeface="Arial MT"/>
                <a:cs typeface="Arial MT"/>
                <a:sym typeface="+mn-ea"/>
              </a:rPr>
              <a:t>a</a:t>
            </a:r>
            <a:r>
              <a:rPr sz="2400" spc="-95" dirty="0">
                <a:latin typeface="Arial MT"/>
                <a:cs typeface="Arial MT"/>
                <a:sym typeface="+mn-ea"/>
              </a:rPr>
              <a:t> </a:t>
            </a:r>
            <a:r>
              <a:rPr sz="2400" spc="-30" dirty="0">
                <a:latin typeface="Arial MT"/>
                <a:cs typeface="Arial MT"/>
                <a:sym typeface="+mn-ea"/>
              </a:rPr>
              <a:t>scripting</a:t>
            </a:r>
            <a:r>
              <a:rPr sz="2400" spc="30" dirty="0">
                <a:latin typeface="Arial MT"/>
                <a:cs typeface="Arial MT"/>
                <a:sym typeface="+mn-ea"/>
              </a:rPr>
              <a:t> </a:t>
            </a:r>
            <a:r>
              <a:rPr sz="2400" spc="-10" dirty="0">
                <a:latin typeface="Arial MT"/>
                <a:cs typeface="Arial MT"/>
                <a:sym typeface="+mn-ea"/>
              </a:rPr>
              <a:t>language</a:t>
            </a:r>
          </a:p>
          <a:p>
            <a:pPr marL="457200" lvl="1" indent="457200">
              <a:lnSpc>
                <a:spcPct val="100000"/>
              </a:lnSpc>
              <a:spcBef>
                <a:spcPts val="130"/>
              </a:spcBef>
              <a:buNone/>
            </a:pPr>
            <a:endParaRPr sz="2400">
              <a:latin typeface="Arial MT"/>
              <a:cs typeface="Arial MT"/>
            </a:endParaRPr>
          </a:p>
          <a:p>
            <a:pPr>
              <a:lnSpc>
                <a:spcPct val="100000"/>
              </a:lnSpc>
              <a:spcBef>
                <a:spcPts val="180"/>
              </a:spcBef>
              <a:tabLst>
                <a:tab pos="758190" algn="l"/>
              </a:tabLst>
            </a:pPr>
            <a:r>
              <a:rPr sz="2400" spc="-50" dirty="0">
                <a:solidFill>
                  <a:srgbClr val="7E7E7E"/>
                </a:solidFill>
                <a:latin typeface="Arial MT"/>
                <a:cs typeface="Arial MT"/>
                <a:sym typeface="+mn-ea"/>
              </a:rPr>
              <a:t>+</a:t>
            </a:r>
            <a:r>
              <a:rPr sz="2400" dirty="0">
                <a:solidFill>
                  <a:srgbClr val="7E7E7E"/>
                </a:solidFill>
                <a:latin typeface="Arial MT"/>
                <a:cs typeface="Arial MT"/>
                <a:sym typeface="+mn-ea"/>
              </a:rPr>
              <a:t>	</a:t>
            </a:r>
            <a:r>
              <a:rPr sz="2400" spc="-20" dirty="0">
                <a:latin typeface="Arial MT"/>
                <a:cs typeface="Arial MT"/>
                <a:sym typeface="+mn-ea"/>
              </a:rPr>
              <a:t>REXX</a:t>
            </a:r>
            <a:endParaRPr sz="2400">
              <a:latin typeface="Arial MT"/>
              <a:cs typeface="Arial MT"/>
            </a:endParaRPr>
          </a:p>
          <a:p>
            <a:pPr marL="457200" lvl="1" indent="457200">
              <a:lnSpc>
                <a:spcPct val="100000"/>
              </a:lnSpc>
              <a:spcBef>
                <a:spcPts val="200"/>
              </a:spcBef>
              <a:buNone/>
              <a:tabLst>
                <a:tab pos="1151255" algn="l"/>
              </a:tabLst>
            </a:pPr>
            <a:r>
              <a:rPr sz="2400" spc="-60" dirty="0">
                <a:latin typeface="Arial MT"/>
                <a:cs typeface="Arial MT"/>
                <a:sym typeface="+mn-ea"/>
              </a:rPr>
              <a:t>C-</a:t>
            </a:r>
            <a:r>
              <a:rPr sz="2400" dirty="0">
                <a:latin typeface="Arial MT"/>
                <a:cs typeface="Arial MT"/>
                <a:sym typeface="+mn-ea"/>
              </a:rPr>
              <a:t>like,</a:t>
            </a:r>
            <a:r>
              <a:rPr sz="2400" spc="5" dirty="0">
                <a:latin typeface="Arial MT"/>
                <a:cs typeface="Arial MT"/>
                <a:sym typeface="+mn-ea"/>
              </a:rPr>
              <a:t> </a:t>
            </a:r>
            <a:r>
              <a:rPr sz="2400" spc="-25" dirty="0">
                <a:latin typeface="Arial MT"/>
                <a:cs typeface="Arial MT"/>
                <a:sym typeface="+mn-ea"/>
              </a:rPr>
              <a:t>objects, </a:t>
            </a:r>
            <a:r>
              <a:rPr sz="2400" spc="-40" dirty="0">
                <a:latin typeface="Arial MT"/>
                <a:cs typeface="Arial MT"/>
                <a:sym typeface="+mn-ea"/>
              </a:rPr>
              <a:t>cross-</a:t>
            </a:r>
            <a:r>
              <a:rPr sz="2400" spc="-20" dirty="0">
                <a:latin typeface="Arial MT"/>
                <a:cs typeface="Arial MT"/>
                <a:sym typeface="+mn-ea"/>
              </a:rPr>
              <a:t>platform,</a:t>
            </a:r>
            <a:r>
              <a:rPr sz="2400" spc="-95" dirty="0">
                <a:latin typeface="Arial MT"/>
                <a:cs typeface="Arial MT"/>
                <a:sym typeface="+mn-ea"/>
              </a:rPr>
              <a:t> </a:t>
            </a:r>
            <a:r>
              <a:rPr sz="2400" dirty="0">
                <a:latin typeface="Arial MT"/>
                <a:cs typeface="Arial MT"/>
                <a:sym typeface="+mn-ea"/>
              </a:rPr>
              <a:t>has</a:t>
            </a:r>
            <a:r>
              <a:rPr sz="2400" spc="-15" dirty="0">
                <a:latin typeface="Arial MT"/>
                <a:cs typeface="Arial MT"/>
                <a:sym typeface="+mn-ea"/>
              </a:rPr>
              <a:t> </a:t>
            </a:r>
            <a:r>
              <a:rPr sz="2400" dirty="0">
                <a:latin typeface="Arial MT"/>
                <a:cs typeface="Arial MT"/>
                <a:sym typeface="+mn-ea"/>
              </a:rPr>
              <a:t>a</a:t>
            </a:r>
            <a:r>
              <a:rPr sz="2400" spc="-130" dirty="0">
                <a:latin typeface="Arial MT"/>
                <a:cs typeface="Arial MT"/>
                <a:sym typeface="+mn-ea"/>
              </a:rPr>
              <a:t> </a:t>
            </a:r>
            <a:r>
              <a:rPr sz="2400" spc="-10" dirty="0">
                <a:latin typeface="Arial MT"/>
                <a:cs typeface="Arial MT"/>
                <a:sym typeface="+mn-ea"/>
              </a:rPr>
              <a:t>Java</a:t>
            </a:r>
            <a:r>
              <a:rPr sz="2400" spc="-65" dirty="0">
                <a:latin typeface="Arial MT"/>
                <a:cs typeface="Arial MT"/>
                <a:sym typeface="+mn-ea"/>
              </a:rPr>
              <a:t> </a:t>
            </a:r>
            <a:r>
              <a:rPr sz="2400" spc="-10" dirty="0">
                <a:latin typeface="Arial MT"/>
                <a:cs typeface="Arial MT"/>
                <a:sym typeface="+mn-ea"/>
              </a:rPr>
              <a:t>version</a:t>
            </a:r>
            <a:endParaRPr sz="2400">
              <a:latin typeface="Arial MT"/>
              <a:cs typeface="Arial MT"/>
            </a:endParaRPr>
          </a:p>
          <a:p>
            <a:endParaRPr 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Web Scripting</a:t>
            </a:r>
          </a:p>
        </p:txBody>
      </p:sp>
      <p:sp>
        <p:nvSpPr>
          <p:cNvPr id="3" name="Content Placeholder 2"/>
          <p:cNvSpPr>
            <a:spLocks noGrp="1"/>
          </p:cNvSpPr>
          <p:nvPr>
            <p:ph idx="1"/>
          </p:nvPr>
        </p:nvSpPr>
        <p:spPr/>
        <p:txBody>
          <a:bodyPr/>
          <a:lstStyle/>
          <a:p>
            <a:r>
              <a:rPr lang="en-US" altLang="en-US" sz="2400"/>
              <a:t>Web scripting refers to the process of creating and embedding scripts in a web page to automate tasks, generate dynamic content, and respond to user interactions. Scripts are lists of commands that are interpreted and executed by a web browser or server</a:t>
            </a:r>
          </a:p>
          <a:p>
            <a:endParaRPr lang="en-US" altLang="en-US" sz="2400"/>
          </a:p>
        </p:txBody>
      </p:sp>
      <p:pic>
        <p:nvPicPr>
          <p:cNvPr id="4" name="Picture 3"/>
          <p:cNvPicPr>
            <a:picLocks noChangeAspect="1"/>
          </p:cNvPicPr>
          <p:nvPr/>
        </p:nvPicPr>
        <p:blipFill>
          <a:blip r:embed="rId2"/>
          <a:stretch>
            <a:fillRect/>
          </a:stretch>
        </p:blipFill>
        <p:spPr>
          <a:xfrm>
            <a:off x="863600" y="3429000"/>
            <a:ext cx="9973310" cy="24885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Processing Web Forms</a:t>
            </a:r>
          </a:p>
        </p:txBody>
      </p:sp>
      <p:pic>
        <p:nvPicPr>
          <p:cNvPr id="4" name="Content Placeholder 3"/>
          <p:cNvPicPr>
            <a:picLocks noGrp="1" noChangeAspect="1"/>
          </p:cNvPicPr>
          <p:nvPr>
            <p:ph idx="1"/>
          </p:nvPr>
        </p:nvPicPr>
        <p:blipFill>
          <a:blip r:embed="rId2"/>
          <a:stretch>
            <a:fillRect/>
          </a:stretch>
        </p:blipFill>
        <p:spPr>
          <a:xfrm>
            <a:off x="7495540" y="1597025"/>
            <a:ext cx="4222115" cy="4876800"/>
          </a:xfrm>
          <a:prstGeom prst="rect">
            <a:avLst/>
          </a:prstGeom>
        </p:spPr>
      </p:pic>
      <p:pic>
        <p:nvPicPr>
          <p:cNvPr id="6" name="Picture 5"/>
          <p:cNvPicPr>
            <a:picLocks noChangeAspect="1"/>
          </p:cNvPicPr>
          <p:nvPr/>
        </p:nvPicPr>
        <p:blipFill>
          <a:blip r:embed="rId3"/>
          <a:stretch>
            <a:fillRect/>
          </a:stretch>
        </p:blipFill>
        <p:spPr>
          <a:xfrm>
            <a:off x="0" y="1287780"/>
            <a:ext cx="7187565" cy="51860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Dynamic Web Pages</a:t>
            </a:r>
          </a:p>
        </p:txBody>
      </p:sp>
      <p:sp>
        <p:nvSpPr>
          <p:cNvPr id="3" name="Content Placeholder 2"/>
          <p:cNvSpPr>
            <a:spLocks noGrp="1"/>
          </p:cNvSpPr>
          <p:nvPr>
            <p:ph idx="1"/>
          </p:nvPr>
        </p:nvSpPr>
        <p:spPr>
          <a:xfrm>
            <a:off x="609600" y="1174750"/>
            <a:ext cx="10972800" cy="5683250"/>
          </a:xfrm>
        </p:spPr>
        <p:txBody>
          <a:bodyPr/>
          <a:lstStyle/>
          <a:p>
            <a:r>
              <a:rPr lang="en-US" sz="2400"/>
              <a:t>DHTML is about creating web pages that reacts to user events</a:t>
            </a:r>
          </a:p>
          <a:p>
            <a:r>
              <a:rPr lang="en-US" sz="2400"/>
              <a:t>DHTML is about using JavaScript and the HTML DOM to change the style positioning of HTML elements</a:t>
            </a:r>
          </a:p>
          <a:p>
            <a:endParaRPr lang="en-US" sz="2400"/>
          </a:p>
        </p:txBody>
      </p:sp>
      <p:pic>
        <p:nvPicPr>
          <p:cNvPr id="4" name="Picture 3"/>
          <p:cNvPicPr>
            <a:picLocks noChangeAspect="1"/>
          </p:cNvPicPr>
          <p:nvPr/>
        </p:nvPicPr>
        <p:blipFill>
          <a:blip r:embed="rId2"/>
          <a:stretch>
            <a:fillRect/>
          </a:stretch>
        </p:blipFill>
        <p:spPr>
          <a:xfrm>
            <a:off x="1002030" y="2420620"/>
            <a:ext cx="9269730" cy="44373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Dynamically Generated HTML</a:t>
            </a:r>
          </a:p>
        </p:txBody>
      </p:sp>
      <p:sp>
        <p:nvSpPr>
          <p:cNvPr id="3" name="Content Placeholder 2"/>
          <p:cNvSpPr>
            <a:spLocks noGrp="1"/>
          </p:cNvSpPr>
          <p:nvPr>
            <p:ph idx="1"/>
          </p:nvPr>
        </p:nvSpPr>
        <p:spPr/>
        <p:txBody>
          <a:bodyPr/>
          <a:lstStyle/>
          <a:p>
            <a:r>
              <a:rPr lang="en-US" sz="2000"/>
              <a:t>It is another form of dynamic web page in which some or all of the HTML is generated by scripts executed on the server</a:t>
            </a:r>
          </a:p>
          <a:p>
            <a:r>
              <a:rPr lang="en-US" sz="2000"/>
              <a:t>A common application is to construct a page whose content is retrieved from a database.</a:t>
            </a:r>
          </a:p>
          <a:p>
            <a:r>
              <a:rPr lang="en-US" sz="2000"/>
              <a:t>Examples: Microsoft IIS Web Server which implements Active Server Pages (which has scripts in javascript or vb script)</a:t>
            </a:r>
          </a:p>
          <a:p>
            <a:endParaRPr lang="en-US" sz="2000"/>
          </a:p>
        </p:txBody>
      </p:sp>
      <p:pic>
        <p:nvPicPr>
          <p:cNvPr id="4" name="Picture 3"/>
          <p:cNvPicPr>
            <a:picLocks noChangeAspect="1"/>
          </p:cNvPicPr>
          <p:nvPr/>
        </p:nvPicPr>
        <p:blipFill>
          <a:blip r:embed="rId2"/>
          <a:stretch>
            <a:fillRect/>
          </a:stretch>
        </p:blipFill>
        <p:spPr>
          <a:xfrm>
            <a:off x="8890" y="2996565"/>
            <a:ext cx="8128635" cy="3699510"/>
          </a:xfrm>
          <a:prstGeom prst="rect">
            <a:avLst/>
          </a:prstGeom>
        </p:spPr>
      </p:pic>
      <p:pic>
        <p:nvPicPr>
          <p:cNvPr id="5" name="Picture 4"/>
          <p:cNvPicPr>
            <a:picLocks noChangeAspect="1"/>
          </p:cNvPicPr>
          <p:nvPr/>
        </p:nvPicPr>
        <p:blipFill>
          <a:blip r:embed="rId3"/>
          <a:stretch>
            <a:fillRect/>
          </a:stretch>
        </p:blipFill>
        <p:spPr>
          <a:xfrm>
            <a:off x="8012430" y="4605020"/>
            <a:ext cx="4035425" cy="20008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Universe of Scripting Languages</a:t>
            </a:r>
          </a:p>
        </p:txBody>
      </p:sp>
      <p:sp>
        <p:nvSpPr>
          <p:cNvPr id="3" name="Content Placeholder 2"/>
          <p:cNvSpPr>
            <a:spLocks noGrp="1"/>
          </p:cNvSpPr>
          <p:nvPr>
            <p:ph idx="1"/>
          </p:nvPr>
        </p:nvSpPr>
        <p:spPr/>
        <p:txBody>
          <a:bodyPr/>
          <a:lstStyle/>
          <a:p>
            <a:r>
              <a:rPr lang="en-US" sz="2400"/>
              <a:t>There is scripting universe, containing multiple overlapping worlds</a:t>
            </a:r>
          </a:p>
          <a:p>
            <a:endParaRPr lang="en-US" sz="2400"/>
          </a:p>
          <a:p>
            <a:r>
              <a:rPr lang="en-US" sz="2400"/>
              <a:t>The original UNIX world of traditional scripting using Perl and Tcl</a:t>
            </a:r>
          </a:p>
          <a:p>
            <a:endParaRPr lang="en-US" sz="2400"/>
          </a:p>
          <a:p>
            <a:r>
              <a:rPr lang="en-US" sz="2400"/>
              <a:t>The Microsoft world of Visual Basic and active x controls.</a:t>
            </a:r>
          </a:p>
          <a:p>
            <a:endParaRPr lang="en-US" sz="2400"/>
          </a:p>
          <a:p>
            <a:r>
              <a:rPr lang="en-US" sz="2400"/>
              <a:t>The world of VBA for scripting compound documents</a:t>
            </a:r>
          </a:p>
          <a:p>
            <a:endParaRPr lang="en-US" sz="2400"/>
          </a:p>
          <a:p>
            <a:r>
              <a:rPr lang="en-US" sz="2400"/>
              <a:t>The world of client-side and server-side web scripting</a:t>
            </a:r>
          </a:p>
          <a:p>
            <a:endParaRPr lang="en-US" sz="2400"/>
          </a:p>
          <a:p>
            <a:r>
              <a:rPr lang="en-US" sz="2400"/>
              <a:t>Overlapping them is very complex, as web scripting can be done in VBScript, JavaScript, Perl Or Tcl</a:t>
            </a:r>
          </a:p>
          <a:p>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Universe of Scripting Languages</a:t>
            </a:r>
            <a:endParaRPr lang="en-US"/>
          </a:p>
        </p:txBody>
      </p:sp>
      <p:sp>
        <p:nvSpPr>
          <p:cNvPr id="3" name="Content Placeholder 2"/>
          <p:cNvSpPr>
            <a:spLocks noGrp="1"/>
          </p:cNvSpPr>
          <p:nvPr>
            <p:ph idx="1"/>
          </p:nvPr>
        </p:nvSpPr>
        <p:spPr/>
        <p:txBody>
          <a:bodyPr/>
          <a:lstStyle/>
          <a:p>
            <a:r>
              <a:rPr lang="en-US" sz="2400">
                <a:sym typeface="+mn-ea"/>
              </a:rPr>
              <a:t>Perl and Tcl are used to implement complex application for large organizations</a:t>
            </a:r>
            <a:endParaRPr lang="en-US" sz="2400"/>
          </a:p>
          <a:p>
            <a:r>
              <a:rPr lang="en-US" sz="2400"/>
              <a:t>E.g. </a:t>
            </a:r>
          </a:p>
          <a:p>
            <a:pPr marL="457200" indent="-457200">
              <a:buAutoNum type="arabicPeriod"/>
            </a:pPr>
            <a:r>
              <a:rPr lang="en-US" sz="2400"/>
              <a:t>Tcl has been used to develop major banking systems</a:t>
            </a:r>
          </a:p>
          <a:p>
            <a:pPr marL="457200" indent="-457200">
              <a:buAutoNum type="arabicPeriod"/>
            </a:pPr>
            <a:r>
              <a:rPr lang="en-US" sz="2400"/>
              <a:t>Perl is used to implement enterprise wide document management systems for leading aerospace companies</a:t>
            </a:r>
          </a:p>
        </p:txBody>
      </p:sp>
      <p:pic>
        <p:nvPicPr>
          <p:cNvPr id="4" name="Picture 3"/>
          <p:cNvPicPr>
            <a:picLocks noChangeAspect="1"/>
          </p:cNvPicPr>
          <p:nvPr/>
        </p:nvPicPr>
        <p:blipFill>
          <a:blip r:embed="rId2"/>
          <a:stretch>
            <a:fillRect/>
          </a:stretch>
        </p:blipFill>
        <p:spPr>
          <a:xfrm>
            <a:off x="884555" y="4097020"/>
            <a:ext cx="4626610" cy="2255520"/>
          </a:xfrm>
          <a:prstGeom prst="rect">
            <a:avLst/>
          </a:prstGeom>
        </p:spPr>
      </p:pic>
      <p:pic>
        <p:nvPicPr>
          <p:cNvPr id="5" name="Picture 4"/>
          <p:cNvPicPr>
            <a:picLocks noChangeAspect="1"/>
          </p:cNvPicPr>
          <p:nvPr/>
        </p:nvPicPr>
        <p:blipFill>
          <a:blip r:embed="rId3"/>
          <a:stretch>
            <a:fillRect/>
          </a:stretch>
        </p:blipFill>
        <p:spPr>
          <a:xfrm>
            <a:off x="6548120" y="3252470"/>
            <a:ext cx="3956685" cy="36055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215" y="190500"/>
            <a:ext cx="11259185" cy="984250"/>
          </a:xfrm>
        </p:spPr>
        <p:txBody>
          <a:bodyPr/>
          <a:lstStyle/>
          <a:p>
            <a:r>
              <a:rPr lang="en-US" b="1"/>
              <a:t>Typical Uses of Scripting Languages Including Javascript Include</a:t>
            </a:r>
          </a:p>
        </p:txBody>
      </p:sp>
      <p:sp>
        <p:nvSpPr>
          <p:cNvPr id="3" name="Content Placeholder 2"/>
          <p:cNvSpPr>
            <a:spLocks noGrp="1"/>
          </p:cNvSpPr>
          <p:nvPr>
            <p:ph idx="1"/>
          </p:nvPr>
        </p:nvSpPr>
        <p:spPr>
          <a:xfrm>
            <a:off x="609600" y="1301115"/>
            <a:ext cx="10972800" cy="4826635"/>
          </a:xfrm>
        </p:spPr>
        <p:txBody>
          <a:bodyPr/>
          <a:lstStyle/>
          <a:p>
            <a:r>
              <a:rPr lang="en-US" sz="2400" b="1"/>
              <a:t>Image or text rollovers</a:t>
            </a:r>
            <a:r>
              <a:rPr lang="en-US" sz="2400"/>
              <a:t>: If the user rolls the mouse over a graphic or hypertext then a text or graphic box will appear</a:t>
            </a:r>
          </a:p>
          <a:p>
            <a:endParaRPr lang="en-US" sz="2400"/>
          </a:p>
          <a:p>
            <a:r>
              <a:rPr lang="en-US" sz="2400"/>
              <a:t>Creating a </a:t>
            </a:r>
            <a:r>
              <a:rPr lang="en-US" sz="2400" b="1"/>
              <a:t>pop-up window</a:t>
            </a:r>
            <a:r>
              <a:rPr lang="en-US" sz="2400"/>
              <a:t> to display information in a separate window from the web page that triggered it. This is useful if the user requires to perform a simple calculation or consult a calendar for inputing dates. This is achieved by embedding ActiveX controls or Java applets into the script</a:t>
            </a:r>
          </a:p>
          <a:p>
            <a:pPr marL="0" indent="0">
              <a:buNone/>
            </a:pPr>
            <a:endParaRPr lang="en-US" sz="2400"/>
          </a:p>
          <a:p>
            <a:r>
              <a:rPr lang="en-US" sz="2400" b="1"/>
              <a:t>Validating the content of fields</a:t>
            </a:r>
            <a:r>
              <a:rPr lang="en-US" sz="2400"/>
              <a:t>: When filling in forms, each field, especially required fields denoted by an asterisk, are validated for correct input. If the field is left blank or incorrect information enteed, then a user message will be generated and you may not continue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9604375" y="2685415"/>
            <a:ext cx="2219960" cy="2887345"/>
          </a:xfrm>
          <a:prstGeom prst="rect">
            <a:avLst/>
          </a:prstGeom>
        </p:spPr>
      </p:pic>
      <p:pic>
        <p:nvPicPr>
          <p:cNvPr id="9" name="Content Placeholder 8"/>
          <p:cNvPicPr>
            <a:picLocks noGrp="1" noChangeAspect="1"/>
          </p:cNvPicPr>
          <p:nvPr>
            <p:ph idx="1"/>
          </p:nvPr>
        </p:nvPicPr>
        <p:blipFill>
          <a:blip r:embed="rId3"/>
          <a:stretch>
            <a:fillRect/>
          </a:stretch>
        </p:blipFill>
        <p:spPr>
          <a:xfrm>
            <a:off x="0" y="979170"/>
            <a:ext cx="9008745" cy="51123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Uses of Scripting Languages</a:t>
            </a:r>
          </a:p>
        </p:txBody>
      </p:sp>
      <p:sp>
        <p:nvSpPr>
          <p:cNvPr id="3" name="Content Placeholder 2"/>
          <p:cNvSpPr>
            <a:spLocks noGrp="1"/>
          </p:cNvSpPr>
          <p:nvPr>
            <p:ph idx="1"/>
          </p:nvPr>
        </p:nvSpPr>
        <p:spPr>
          <a:xfrm>
            <a:off x="609600" y="1174750"/>
            <a:ext cx="10972800" cy="5297805"/>
          </a:xfrm>
        </p:spPr>
        <p:txBody>
          <a:bodyPr/>
          <a:lstStyle/>
          <a:p>
            <a:r>
              <a:rPr lang="en-US" sz="2400"/>
              <a:t>Scripting languages are of two kinds</a:t>
            </a:r>
          </a:p>
          <a:p>
            <a:pPr marL="914400" lvl="1" indent="-457200">
              <a:buFont typeface="+mj-lt"/>
              <a:buAutoNum type="arabicPeriod"/>
            </a:pPr>
            <a:r>
              <a:rPr lang="en-US" sz="2100" b="1"/>
              <a:t>Traditional Scripting</a:t>
            </a:r>
          </a:p>
          <a:p>
            <a:pPr marL="457200" lvl="1" indent="0">
              <a:buNone/>
            </a:pPr>
            <a:r>
              <a:rPr lang="en-US" sz="2100"/>
              <a:t>The activities which require traditional scripting include:</a:t>
            </a:r>
          </a:p>
          <a:p>
            <a:pPr lvl="1"/>
            <a:r>
              <a:rPr lang="en-US" sz="2100"/>
              <a:t>System administration</a:t>
            </a:r>
          </a:p>
          <a:p>
            <a:pPr lvl="1"/>
            <a:r>
              <a:rPr lang="en-US" sz="2100"/>
              <a:t>Controlling remote applications</a:t>
            </a:r>
          </a:p>
          <a:p>
            <a:pPr lvl="1"/>
            <a:r>
              <a:rPr lang="en-US" sz="2100"/>
              <a:t>System and Application extensions</a:t>
            </a:r>
          </a:p>
          <a:p>
            <a:pPr lvl="1"/>
            <a:r>
              <a:rPr lang="en-US" sz="2100"/>
              <a:t>Experimental Programming</a:t>
            </a:r>
          </a:p>
          <a:p>
            <a:pPr lvl="1"/>
            <a:r>
              <a:rPr lang="en-US" sz="2100"/>
              <a:t>Command line interface</a:t>
            </a:r>
          </a:p>
          <a:p>
            <a:pPr marL="457200" lvl="1" indent="0">
              <a:buNone/>
            </a:pPr>
            <a:endParaRPr lang="en-US" sz="2100"/>
          </a:p>
          <a:p>
            <a:pPr marL="457200" lvl="1" indent="0">
              <a:buFont typeface="+mj-lt"/>
              <a:buNone/>
            </a:pPr>
            <a:r>
              <a:rPr lang="en-US" sz="2100"/>
              <a:t>2. </a:t>
            </a:r>
            <a:r>
              <a:rPr lang="en-US" sz="2100" b="1"/>
              <a:t>Modern Scripting</a:t>
            </a:r>
            <a:endParaRPr lang="en-US" sz="2100"/>
          </a:p>
          <a:p>
            <a:pPr lvl="1"/>
            <a:r>
              <a:rPr lang="en-US" sz="2100"/>
              <a:t>Visual scripting</a:t>
            </a:r>
          </a:p>
          <a:p>
            <a:pPr lvl="1"/>
            <a:r>
              <a:rPr lang="en-US" sz="2100"/>
              <a:t>Scriptable components</a:t>
            </a:r>
          </a:p>
          <a:p>
            <a:pPr lvl="1"/>
            <a:r>
              <a:rPr lang="en-US" sz="2100"/>
              <a:t>Client-side and server side web scripting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The Future</a:t>
            </a:r>
          </a:p>
        </p:txBody>
      </p:sp>
      <p:sp>
        <p:nvSpPr>
          <p:cNvPr id="3" name="Content Placeholder 2"/>
          <p:cNvSpPr>
            <a:spLocks noGrp="1"/>
          </p:cNvSpPr>
          <p:nvPr>
            <p:ph idx="1"/>
          </p:nvPr>
        </p:nvSpPr>
        <p:spPr/>
        <p:txBody>
          <a:bodyPr/>
          <a:lstStyle/>
          <a:p>
            <a:r>
              <a:rPr lang="en-US"/>
              <a:t>Decline in use of C and C++</a:t>
            </a:r>
          </a:p>
          <a:p>
            <a:r>
              <a:rPr lang="en-US"/>
              <a:t>An increasing use of dynamic languages</a:t>
            </a:r>
          </a:p>
          <a:p>
            <a:r>
              <a:rPr lang="en-US"/>
              <a:t>Commercial software development: no compile needed, development and testing is simplified</a:t>
            </a:r>
          </a:p>
          <a:p>
            <a:r>
              <a:rPr lang="en-US"/>
              <a:t>Scripting languages are likely to become extremely important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Key Takeaways</a:t>
            </a:r>
          </a:p>
        </p:txBody>
      </p:sp>
      <p:sp>
        <p:nvSpPr>
          <p:cNvPr id="3" name="Content Placeholder 2"/>
          <p:cNvSpPr>
            <a:spLocks noGrp="1"/>
          </p:cNvSpPr>
          <p:nvPr>
            <p:ph idx="1"/>
          </p:nvPr>
        </p:nvSpPr>
        <p:spPr/>
        <p:txBody>
          <a:bodyPr>
            <a:normAutofit fontScale="97500"/>
          </a:bodyPr>
          <a:lstStyle/>
          <a:p>
            <a:r>
              <a:rPr lang="en-US" dirty="0"/>
              <a:t>Scripting languages trade execution speed for developer productivity and flexibility</a:t>
            </a:r>
          </a:p>
          <a:p>
            <a:r>
              <a:rPr lang="en-US" dirty="0"/>
              <a:t>The core strengths - dynamic typing, pattern matching, high-level data types - make them ideal for gluing systems together</a:t>
            </a:r>
          </a:p>
          <a:p>
            <a:r>
              <a:rPr lang="en-US" dirty="0"/>
              <a:t>The scripting vs. system language divide is shrinking as hardware gets faster and languages evolve</a:t>
            </a:r>
          </a:p>
          <a:p>
            <a:r>
              <a:rPr lang="en-US" dirty="0"/>
              <a:t>Knowing when to use each type of language is a critical skill for any software professional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Discussion</a:t>
            </a:r>
          </a:p>
        </p:txBody>
      </p:sp>
      <p:sp>
        <p:nvSpPr>
          <p:cNvPr id="3" name="Content Placeholder 2"/>
          <p:cNvSpPr>
            <a:spLocks noGrp="1"/>
          </p:cNvSpPr>
          <p:nvPr>
            <p:ph idx="1"/>
          </p:nvPr>
        </p:nvSpPr>
        <p:spPr/>
        <p:txBody>
          <a:bodyPr>
            <a:normAutofit fontScale="90000" lnSpcReduction="20000"/>
          </a:bodyPr>
          <a:lstStyle/>
          <a:p>
            <a:r>
              <a:rPr lang="en-US"/>
              <a:t>Why do you think scripting languages have grown in popularity despite being slower than compiled languages?</a:t>
            </a:r>
          </a:p>
          <a:p>
            <a:pPr marL="0" indent="0">
              <a:buNone/>
            </a:pPr>
            <a:endParaRPr lang="en-US"/>
          </a:p>
          <a:p>
            <a:r>
              <a:rPr lang="en-US"/>
              <a:t>In what scenarios would you still choose a system language like C or C++ over a scripting language? Why?</a:t>
            </a:r>
          </a:p>
          <a:p>
            <a:pPr marL="0" indent="0">
              <a:buNone/>
            </a:pPr>
            <a:endParaRPr lang="en-US"/>
          </a:p>
          <a:p>
            <a:r>
              <a:rPr lang="en-US"/>
              <a:t>How has the rise of web development changed the role of scripting languages in the software industry?</a:t>
            </a:r>
          </a:p>
          <a:p>
            <a:pPr marL="0" indent="0">
              <a:buNone/>
            </a:pPr>
            <a:endParaRPr lang="en-US"/>
          </a:p>
          <a:p>
            <a:r>
              <a:rPr lang="en-US"/>
              <a:t>Do you think the distinction between scripting and system languages will eventually disappear? What trends support your view?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Take Home Assignment</a:t>
            </a:r>
          </a:p>
        </p:txBody>
      </p:sp>
      <p:sp>
        <p:nvSpPr>
          <p:cNvPr id="3" name="Content Placeholder 2"/>
          <p:cNvSpPr>
            <a:spLocks noGrp="1"/>
          </p:cNvSpPr>
          <p:nvPr>
            <p:ph idx="1"/>
          </p:nvPr>
        </p:nvSpPr>
        <p:spPr/>
        <p:txBody>
          <a:bodyPr>
            <a:normAutofit fontScale="90000" lnSpcReduction="20000"/>
          </a:bodyPr>
          <a:lstStyle/>
          <a:p>
            <a:pPr marL="0" indent="0">
              <a:buNone/>
            </a:pPr>
            <a:r>
              <a:rPr lang="en-US" b="1"/>
              <a:t>Research Paper: Comparing Two Scripting Languages</a:t>
            </a:r>
          </a:p>
          <a:p>
            <a:pPr marL="0" indent="0">
              <a:buNone/>
            </a:pPr>
            <a:endParaRPr lang="en-US"/>
          </a:p>
          <a:p>
            <a:r>
              <a:rPr lang="en-US"/>
              <a:t>Choose two scripting languages covered in class (e.g., Python, Perl, JavaScript, Bash) and write a 2–3 page comparison</a:t>
            </a:r>
          </a:p>
          <a:p>
            <a:r>
              <a:rPr lang="en-US"/>
              <a:t>Cover their history, typing systems, common use cases, and key strengths and weaknesses</a:t>
            </a:r>
          </a:p>
          <a:p>
            <a:r>
              <a:rPr lang="en-US"/>
              <a:t>Include at least one code example in each language that demonstrates a meaningful difference between them</a:t>
            </a:r>
          </a:p>
          <a:p>
            <a:r>
              <a:rPr lang="en-US"/>
              <a:t>Cite a minimum of three credible sources (textbooks, official documentation, or academic articles)</a:t>
            </a:r>
          </a:p>
          <a:p>
            <a:pPr marL="0" indent="0">
              <a:buNone/>
            </a:pPr>
            <a:endParaRPr lang="en-US"/>
          </a:p>
          <a:p>
            <a:pPr marL="0" indent="0">
              <a:buNone/>
            </a:pPr>
            <a:r>
              <a:rPr lang="en-US" b="1"/>
              <a:t>Due: Next class session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4*371"/>
  <p:tag name="TABLE_ENDDRAG_RECT" val="48*99*864*371"/>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778</TotalTime>
  <Words>2221</Words>
  <Application>Microsoft Office PowerPoint</Application>
  <PresentationFormat>Widescreen</PresentationFormat>
  <Paragraphs>275</Paragraphs>
  <Slides>36</Slides>
  <Notes>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Arial MT</vt:lpstr>
      <vt:lpstr>Gear Drives</vt:lpstr>
      <vt:lpstr>CSSD 204: Scripting Languages  INTRODUCTION TO SCRIPTING LANGUAGES</vt:lpstr>
      <vt:lpstr>History of Languages</vt:lpstr>
      <vt:lpstr>Introduction</vt:lpstr>
      <vt:lpstr>Why Should You Care?</vt:lpstr>
      <vt:lpstr>What is Scripting?</vt:lpstr>
      <vt:lpstr>Origin of Scripting</vt:lpstr>
      <vt:lpstr>Generalizations About Programming Languages</vt:lpstr>
      <vt:lpstr>Generalizations About Scripting Languages</vt:lpstr>
      <vt:lpstr>Differences between Scripting Languages and Programming Languages</vt:lpstr>
      <vt:lpstr>Scripting Languages vs System Languages</vt:lpstr>
      <vt:lpstr>Scripting Languages vs System Languages</vt:lpstr>
      <vt:lpstr>Common Characteristics of Scripting Languages</vt:lpstr>
      <vt:lpstr>Common Characteristics of Scripting Languages</vt:lpstr>
      <vt:lpstr>Common Characteristics of Scripting Languages</vt:lpstr>
      <vt:lpstr>Common Characteristics of Scripting Languages</vt:lpstr>
      <vt:lpstr>Common Characteristics of Scripting Languages</vt:lpstr>
      <vt:lpstr>Common Characteristics of Scripting Languages</vt:lpstr>
      <vt:lpstr>Common Characteristics of Scripting Languages</vt:lpstr>
      <vt:lpstr>Common Characteristics of Scripting Languages</vt:lpstr>
      <vt:lpstr>Scripting Languages</vt:lpstr>
      <vt:lpstr>Scripting Languages</vt:lpstr>
      <vt:lpstr>Scripting Languages</vt:lpstr>
      <vt:lpstr>Scripting Languages</vt:lpstr>
      <vt:lpstr>Web Scripting</vt:lpstr>
      <vt:lpstr>Processing Web Forms</vt:lpstr>
      <vt:lpstr>Dynamic Web Pages</vt:lpstr>
      <vt:lpstr>Dynamically Generated HTML</vt:lpstr>
      <vt:lpstr>Universe of Scripting Languages</vt:lpstr>
      <vt:lpstr>Universe of Scripting Languages</vt:lpstr>
      <vt:lpstr>Typical Uses of Scripting Languages Including Javascript Include</vt:lpstr>
      <vt:lpstr>PowerPoint Presentation</vt:lpstr>
      <vt:lpstr>Uses of Scripting Languages</vt:lpstr>
      <vt:lpstr>The Future</vt:lpstr>
      <vt:lpstr>Key Takeaways</vt:lpstr>
      <vt:lpstr>Discussion</vt:lpstr>
      <vt:lpstr>Take Home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SCRIPTING LANGUAGES</dc:title>
  <dc:creator/>
  <cp:lastModifiedBy>Augustus  Buckman</cp:lastModifiedBy>
  <cp:revision>4</cp:revision>
  <dcterms:created xsi:type="dcterms:W3CDTF">2025-04-24T22:25:09Z</dcterms:created>
  <dcterms:modified xsi:type="dcterms:W3CDTF">2026-05-19T09:01:05Z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78F69610758F4A2C9559955DD990DD10_11</vt:lpwstr>
  </property>
  <property fmtid="{D5CDD505-2E9C-101B-9397-08002B2CF9AE}" pid="3" name="KSOProductBuildVer">
    <vt:lpwstr>1033-12.2.0.20795</vt:lpwstr>
  </property>
</Properties>
</file>